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d95efd4f174510" /><Relationship Type="http://schemas.openxmlformats.org/officeDocument/2006/relationships/extended-properties" Target="/docProps/app.xml" Id="Rdcd65d934c2f4bc2" /><Relationship Type="http://schemas.openxmlformats.org/officeDocument/2006/relationships/officeDocument" Target="/ppt/presentation.xml" Id="R5a1166920f564e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56fa70851d496d"/>
  </p:sldMasterIdLst>
  <p:notesMasterIdLst>
    <p:notesMasterId xmlns:r="http://schemas.openxmlformats.org/officeDocument/2006/relationships" r:id="Rba9658cb99e740e0"/>
  </p:notesMasterIdLst>
  <p:sldIdLst>
    <p:sldId xmlns:r="http://schemas.openxmlformats.org/officeDocument/2006/relationships" id="256" r:id="Rc7bea7a60b05491c"/>
    <p:sldId xmlns:r="http://schemas.openxmlformats.org/officeDocument/2006/relationships" id="257" r:id="R3a3c000dca224350"/>
    <p:sldId xmlns:r="http://schemas.openxmlformats.org/officeDocument/2006/relationships" id="258" r:id="Rdb95caf199524a5d"/>
    <p:sldId xmlns:r="http://schemas.openxmlformats.org/officeDocument/2006/relationships" id="259" r:id="Rf702951614544c9e"/>
    <p:sldId xmlns:r="http://schemas.openxmlformats.org/officeDocument/2006/relationships" id="260" r:id="R24be831657b64ba4"/>
    <p:sldId xmlns:r="http://schemas.openxmlformats.org/officeDocument/2006/relationships" id="261" r:id="Rbb17b113a0914933"/>
    <p:sldId xmlns:r="http://schemas.openxmlformats.org/officeDocument/2006/relationships" id="262" r:id="R6f593ac5b2f44c5c"/>
    <p:sldId xmlns:r="http://schemas.openxmlformats.org/officeDocument/2006/relationships" id="263" r:id="Rf3fc885ce6dc4906"/>
    <p:sldId xmlns:r="http://schemas.openxmlformats.org/officeDocument/2006/relationships" id="264" r:id="Rba852fa6273d464c"/>
    <p:sldId xmlns:r="http://schemas.openxmlformats.org/officeDocument/2006/relationships" id="265" r:id="R55b2d8b736c84ce6"/>
    <p:sldId xmlns:r="http://schemas.openxmlformats.org/officeDocument/2006/relationships" id="266" r:id="R83cbaeb39d6a4726"/>
    <p:sldId xmlns:r="http://schemas.openxmlformats.org/officeDocument/2006/relationships" id="267" r:id="Re0082434dbaa4b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0cd6ece9b241b1" /><Relationship Type="http://schemas.openxmlformats.org/officeDocument/2006/relationships/slideMaster" Target="/ppt/slideMasters/slideMaster1.xml" Id="R8b56fa70851d496d" /><Relationship Type="http://schemas.openxmlformats.org/officeDocument/2006/relationships/notesMaster" Target="/ppt/notesMasters/notesMaster1.xml" Id="Rba9658cb99e740e0" /><Relationship Type="http://schemas.openxmlformats.org/officeDocument/2006/relationships/presProps" Target="/ppt/presProps.xml" Id="R7daff3a728614c44" /><Relationship Type="http://schemas.openxmlformats.org/officeDocument/2006/relationships/tableStyles" Target="/ppt/tableStyles.xml" Id="Reb5ca89ef40a48fe" /><Relationship Type="http://schemas.openxmlformats.org/officeDocument/2006/relationships/slide" Target="/ppt/slides/slide1.xml" Id="Rc7bea7a60b05491c" /><Relationship Type="http://schemas.openxmlformats.org/officeDocument/2006/relationships/slide" Target="/ppt/slides/slide2.xml" Id="R3a3c000dca224350" /><Relationship Type="http://schemas.openxmlformats.org/officeDocument/2006/relationships/slide" Target="/ppt/slides/slide3.xml" Id="Rdb95caf199524a5d" /><Relationship Type="http://schemas.openxmlformats.org/officeDocument/2006/relationships/slide" Target="/ppt/slides/slide4.xml" Id="Rf702951614544c9e" /><Relationship Type="http://schemas.openxmlformats.org/officeDocument/2006/relationships/slide" Target="/ppt/slides/slide5.xml" Id="R24be831657b64ba4" /><Relationship Type="http://schemas.openxmlformats.org/officeDocument/2006/relationships/slide" Target="/ppt/slides/slide6.xml" Id="Rbb17b113a0914933" /><Relationship Type="http://schemas.openxmlformats.org/officeDocument/2006/relationships/slide" Target="/ppt/slides/slide7.xml" Id="R6f593ac5b2f44c5c" /><Relationship Type="http://schemas.openxmlformats.org/officeDocument/2006/relationships/slide" Target="/ppt/slides/slide8.xml" Id="Rf3fc885ce6dc4906" /><Relationship Type="http://schemas.openxmlformats.org/officeDocument/2006/relationships/slide" Target="/ppt/slides/slide9.xml" Id="Rba852fa6273d464c" /><Relationship Type="http://schemas.openxmlformats.org/officeDocument/2006/relationships/slide" Target="/ppt/slides/slide10.xml" Id="R55b2d8b736c84ce6" /><Relationship Type="http://schemas.openxmlformats.org/officeDocument/2006/relationships/slide" Target="/ppt/slides/slide11.xml" Id="R83cbaeb39d6a4726" /><Relationship Type="http://schemas.openxmlformats.org/officeDocument/2006/relationships/slide" Target="/ppt/slides/slide12.xml" Id="Re0082434dbaa4b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39fc6728de45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fe9cfdbed0480c" /><Relationship Type="http://schemas.openxmlformats.org/officeDocument/2006/relationships/notesMaster" Target="/ppt/notesMasters/notesMaster1.xml" Id="R90e675b1f9ff44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bef4c0ea11418e" /><Relationship Type="http://schemas.openxmlformats.org/officeDocument/2006/relationships/notesMaster" Target="/ppt/notesMasters/notesMaster1.xml" Id="R754cc840328244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524e7c9f574959" /><Relationship Type="http://schemas.openxmlformats.org/officeDocument/2006/relationships/notesMaster" Target="/ppt/notesMasters/notesMaster1.xml" Id="R471d5130871542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d8695be7514f89" /><Relationship Type="http://schemas.openxmlformats.org/officeDocument/2006/relationships/notesMaster" Target="/ppt/notesMasters/notesMaster1.xml" Id="R135d7c2a1a9c4f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7fadcf056e4e78" /><Relationship Type="http://schemas.openxmlformats.org/officeDocument/2006/relationships/notesMaster" Target="/ppt/notesMasters/notesMaster1.xml" Id="R5e4fbf8c6cdc4f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faf34dbf454c8c" /><Relationship Type="http://schemas.openxmlformats.org/officeDocument/2006/relationships/notesMaster" Target="/ppt/notesMasters/notesMaster1.xml" Id="Rca137adcd28c4b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e10bd3b56c4f35" /><Relationship Type="http://schemas.openxmlformats.org/officeDocument/2006/relationships/notesMaster" Target="/ppt/notesMasters/notesMaster1.xml" Id="R5f86b79ed1104e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3113a10bee42aa" /><Relationship Type="http://schemas.openxmlformats.org/officeDocument/2006/relationships/notesMaster" Target="/ppt/notesMasters/notesMaster1.xml" Id="R1771a6e8b24e4b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76c0f91bdc4638" /><Relationship Type="http://schemas.openxmlformats.org/officeDocument/2006/relationships/notesMaster" Target="/ppt/notesMasters/notesMaster1.xml" Id="R3d0670fa7cd34a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91471c4eb24a19" /><Relationship Type="http://schemas.openxmlformats.org/officeDocument/2006/relationships/notesMaster" Target="/ppt/notesMasters/notesMaster1.xml" Id="Re8c5440becb54a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8232e5a6784009" /><Relationship Type="http://schemas.openxmlformats.org/officeDocument/2006/relationships/notesMaster" Target="/ppt/notesMasters/notesMaster1.xml" Id="R8f9cc50d9bae42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6ef423fb974db9" /><Relationship Type="http://schemas.openxmlformats.org/officeDocument/2006/relationships/notesMaster" Target="/ppt/notesMasters/notesMaster1.xml" Id="Rbf46d5ba3cb049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naturally: I started with the project brief, but I treated it as a fraud operations problem, not only a machine learning task.</a:t>
            </a:r>
          </a:p>
          <a:p xmlns:a="http://schemas.openxmlformats.org/drawingml/2006/main">
            <a:r>
              <a:t>My aim was to build something an analyst or investigator could actually use: score, queue, explain, and govern.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would explain that I first read the task and asked what a fraud team actually needs from it.</a:t>
            </a:r>
          </a:p>
          <a:p xmlns:a="http://schemas.openxmlformats.org/drawingml/2006/main">
            <a:r>
              <a:t>That led me to focus on queue prioritization, thresholding, and explainability.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I show that the work was not just building a UI.</a:t>
            </a:r>
          </a:p>
          <a:p xmlns:a="http://schemas.openxmlformats.org/drawingml/2006/main">
            <a:r>
              <a:t>Explain left joins, missing flags, leakage prevention, and why alert_generated was removed from model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that top features were selected for both predictive value and explainability.</a:t>
            </a:r>
          </a:p>
          <a:p xmlns:a="http://schemas.openxmlformats.org/drawingml/2006/main">
            <a:r>
              <a:t>The final app uses the same feature set so every score can be explained to a reviewer.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overclaim the model. Say performance is moderate because fraud is rare.</a:t>
            </a:r>
          </a:p>
          <a:p xmlns:a="http://schemas.openxmlformats.org/drawingml/2006/main">
            <a:r>
              <a:t>The key improvement is that the model became a queue-ranking and thresholding workflow, which is closer to bank operations.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how I came to a conclusion.</a:t>
            </a:r>
          </a:p>
          <a:p xmlns:a="http://schemas.openxmlformats.org/drawingml/2006/main">
            <a:r>
              <a:t>The conclusion was not just champion model. It was threshold plus human-review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first app idea could have been Streamlit, but I moved to a deployable static app for Vercel.</a:t>
            </a:r>
          </a:p>
          <a:p xmlns:a="http://schemas.openxmlformats.org/drawingml/2006/main">
            <a:r>
              <a:t>The app is built to look like a fraud operations workbench, not just a 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queue as a worklist, not another model chart.</a:t>
            </a:r>
          </a:p>
          <a:p xmlns:a="http://schemas.openxmlformats.org/drawingml/2006/main">
            <a:r>
              <a:t>The rule-gap number is important: it shows cases the old alert approach may not have highlighted.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if the tutor asks about geographic distance.</a:t>
            </a:r>
          </a:p>
          <a:p xmlns:a="http://schemas.openxmlformats.org/drawingml/2006/main">
            <a:r>
              <a:t>Say the app compares each transaction against reference values and explains what made the score move.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important for JPMorgan-style review.</a:t>
            </a:r>
          </a:p>
          <a:p xmlns:a="http://schemas.openxmlformats.org/drawingml/2006/main">
            <a:r>
              <a:t>Emphasize that a banking model needs controls, not only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tell your tutor what changed since last submission.</a:t>
            </a:r>
          </a:p>
          <a:p xmlns:a="http://schemas.openxmlformats.org/drawingml/2006/main">
            <a:r>
              <a:t>Use simple language: I cleaned the story, improved the UI, made the report export useful, and added explanation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confidently.</a:t>
            </a:r>
          </a:p>
          <a:p xmlns:a="http://schemas.openxmlformats.org/drawingml/2006/main">
            <a:r>
              <a:t>Do not say the model is production ready. Say the prototype is complete and production would need real-data validation and governance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ec4f9626649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650ef885024d0e" /><Relationship Type="http://schemas.openxmlformats.org/officeDocument/2006/relationships/slideLayout" Target="/ppt/slideLayouts/slideLayout1.xml" Id="R34b29602c2a644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b29602c2a644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03a0e0e3c4ce9" /><Relationship Type="http://schemas.openxmlformats.org/officeDocument/2006/relationships/notesSlide" Target="/ppt/notesSlides/notesSlide1.xml" Id="R14f204a63b5f42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78e501f624eba" /><Relationship Type="http://schemas.openxmlformats.org/officeDocument/2006/relationships/notesSlide" Target="/ppt/notesSlides/notesSlide2.xml" Id="R3db44742beb84c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511dcbffa43ce" /><Relationship Type="http://schemas.openxmlformats.org/officeDocument/2006/relationships/notesSlide" Target="/ppt/notesSlides/notesSlide3.xml" Id="Rac1ca60e60a247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6d797f8f74eda" /><Relationship Type="http://schemas.openxmlformats.org/officeDocument/2006/relationships/notesSlide" Target="/ppt/notesSlides/notesSlide4.xml" Id="R54eb1be1729a44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f60bec02e41db" /><Relationship Type="http://schemas.openxmlformats.org/officeDocument/2006/relationships/notesSlide" Target="/ppt/notesSlides/notesSlide5.xml" Id="Rf035d9bba6d048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bcc04317f4045" /><Relationship Type="http://schemas.openxmlformats.org/officeDocument/2006/relationships/notesSlide" Target="/ppt/notesSlides/notesSlide6.xml" Id="Rcdad7cf2d4824e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fbc0d6cae4d76" /><Relationship Type="http://schemas.openxmlformats.org/officeDocument/2006/relationships/image" Target="/ppt/media/image.png" Id="Ra902ee664d654bf9" /><Relationship Type="http://schemas.openxmlformats.org/officeDocument/2006/relationships/notesSlide" Target="/ppt/notesSlides/notesSlide7.xml" Id="Rc2daea97a80344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8f0f258d442b3" /><Relationship Type="http://schemas.openxmlformats.org/officeDocument/2006/relationships/image" Target="/ppt/media/image2.png" Id="Ra40c0ab3e4714428" /><Relationship Type="http://schemas.openxmlformats.org/officeDocument/2006/relationships/notesSlide" Target="/ppt/notesSlides/notesSlide8.xml" Id="R4d1f6800f4a945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1cc4a29e64219" /><Relationship Type="http://schemas.openxmlformats.org/officeDocument/2006/relationships/notesSlide" Target="/ppt/notesSlides/notesSlide9.xml" Id="R98261057b10847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32106e85e4dd3" /><Relationship Type="http://schemas.openxmlformats.org/officeDocument/2006/relationships/image" Target="/ppt/media/image3.png" Id="R291f6cae3be94858" /><Relationship Type="http://schemas.openxmlformats.org/officeDocument/2006/relationships/notesSlide" Target="/ppt/notesSlides/notesSlide10.xml" Id="R734cbd75a5ff4d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c6e73277b4c08" /><Relationship Type="http://schemas.openxmlformats.org/officeDocument/2006/relationships/notesSlide" Target="/ppt/notesSlides/notesSlide11.xml" Id="Ra423d530d52c40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cd4c57fda4231" /><Relationship Type="http://schemas.openxmlformats.org/officeDocument/2006/relationships/notesSlide" Target="/ppt/notesSlides/notesSlide12.xml" Id="R1232d639b1904e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602BD-F56C-4ECD-BA9C-496638B9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A"/>
          </a:solidFill>
          <a:ln xmlns:a="http://schemas.openxmlformats.org/drawingml/2006/main" w="0">
            <a:solidFill>
              <a:srgbClr val="F5FB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59C53-64C3-4191-BB4F-C48D92A3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64E49"/>
                </a:solidFill>
              </a:defRPr>
            </a:pPr>
            <a:r>
              <a:rPr sz="1200" b="1" i="0">
                <a:solidFill>
                  <a:srgbClr val="064E49"/>
                </a:solidFill>
              </a:rPr>
              <a:t>JPMORGAN-INSPIRED FRAUD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A71CB-5183-4872-997E-6BBBDE2D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6477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Fraud Alert</a:t>
            </a:r>
          </a:p>
          <a:p xmlns:a="http://schemas.openxmlformats.org/drawingml/2006/main">
            <a:pPr algn="l"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Control Tower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89D65-F394-4EC4-8C87-CABE0DFA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6F6C"/>
                </a:solidFill>
              </a:defRPr>
            </a:pPr>
            <a:r>
              <a:rPr sz="1650" b="0" i="0">
                <a:solidFill>
                  <a:srgbClr val="5F6F6C"/>
                </a:solidFill>
              </a:rPr>
              <a:t>Project journey from raw synthetic data to explainable alert prioritization, investigator workflow, threshold controls, and governance.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E4391-9369-4EA0-88AA-36105877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40CE7-010A-47B9-B78D-F7372226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73"/>
          </a:solidFill>
          <a:ln xmlns:a="http://schemas.openxmlformats.org/drawingml/2006/main" w="0">
            <a:solidFill>
              <a:srgbClr val="087B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AE126-8AE6-4F67-AAF0-CDCA7298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90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TRANSACTIONS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83DE2-01D4-4FF9-9708-423D86A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9545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5,000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BDABD-8F26-4286-9AC8-599FA995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001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08F37-F902-4727-BB9A-930EF041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00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B21"/>
          </a:solidFill>
          <a:ln xmlns:a="http://schemas.openxmlformats.org/drawingml/2006/main" w="0">
            <a:solidFill>
              <a:srgbClr val="C58B2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741C2-E045-4474-9FB6-0AD44358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90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FRAUD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CFEA3-CFAD-49EF-82D4-2DF3F215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9545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4.02%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89A9A-1D98-47AA-8F02-E1014479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882C4-41D3-4BF2-B44E-F59B2C2B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49"/>
          </a:solidFill>
          <a:ln xmlns:a="http://schemas.openxmlformats.org/drawingml/2006/main" w="0">
            <a:solidFill>
              <a:srgbClr val="064E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972C1-A706-4668-B861-A613C199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670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REVIEW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F7CE9-6233-4B73-8295-DCB33E9C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718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104C6-60D1-4FBB-8490-956D2E18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39A84-9CCC-450E-8DDD-F5B21AE9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044"/>
          </a:solidFill>
          <a:ln xmlns:a="http://schemas.openxmlformats.org/drawingml/2006/main" w="0">
            <a:solidFill>
              <a:srgbClr val="1670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B3B5F-B717-476E-B532-32AAEAAE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FRAUD CAPTURE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63157F-23C2-450A-BD75-12DCE762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25.0%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F496B-BD7C-4FE2-B1F5-BF93BAEC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028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2C001-3724-4130-8BEA-2F0CBE02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Final 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84F05-7BDC-4F26-9C7A-9329DF0E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</a:defRPr>
            </a:pPr>
            <a:r>
              <a:rPr sz="1500" b="0" i="0">
                <a:solidFill>
                  <a:srgbClr val="111827"/>
                </a:solidFill>
              </a:rPr>
              <a:t>The project is not just a fraud classifier. It is a decision-support workflow that ranks alerts, explains risk, and links thresholds to investigator capacity.</a:t>
            </a:r>
          </a:p>
        </p:txBody>
      </p:sp>
    </p:spTree>
    <p:extLst>
      <p:ext uri="{BB962C8B-B14F-4D97-AF65-F5344CB8AC3E}">
        <p14:creationId xmlns:p14="http://schemas.microsoft.com/office/powerpoint/2010/main" val="299283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51199B-1CDC-483E-B82A-2304F87D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DDCF0-553C-4383-AD42-E79BF026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Where The Project Started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390B7-3105-4266-BFC4-D096BA74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F6C"/>
                </a:solidFill>
              </a:defRPr>
            </a:pPr>
            <a:r>
              <a:rPr sz="1275" b="0" i="0">
                <a:solidFill>
                  <a:srgbClr val="5F6F6C"/>
                </a:solidFill>
              </a:rPr>
              <a:t>The brief was about explainable fraud alert prioritization, so I reframed it as a review-capacity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A1333-DF57-4809-97F9-61F10F44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E"/>
          </a:solidFill>
          <a:ln xmlns:a="http://schemas.openxmlformats.org/drawingml/2006/main" w="0">
            <a:solidFill>
              <a:srgbClr val="E7F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C85AD-BC28-4E69-B8EE-5D53E8D2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236FF-09F4-4EF2-88D3-ED17513A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73"/>
          </a:solidFill>
          <a:ln xmlns:a="http://schemas.openxmlformats.org/drawingml/2006/main" w="0">
            <a:solidFill>
              <a:srgbClr val="087B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1631F-C285-4DBB-8DF9-A46EB0DF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A4370-27B4-4B76-A59E-7E0BE662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812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Project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D376E-90F9-4180-961B-7F3775D0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860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F6C"/>
                </a:solidFill>
              </a:defRPr>
            </a:pPr>
            <a:r>
              <a:rPr sz="1125" b="0" i="0">
                <a:solidFill>
                  <a:srgbClr val="5F6F6C"/>
                </a:solidFill>
              </a:rPr>
              <a:t>Build a fraud alert prioritization solution using transaction, customer, and merchant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FA97F-5473-440A-B2E4-E1CA9BBD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31B36-21E3-455D-A6DC-1BA40E6A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62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B21"/>
          </a:solidFill>
          <a:ln xmlns:a="http://schemas.openxmlformats.org/drawingml/2006/main" w="0">
            <a:solidFill>
              <a:srgbClr val="C58B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461DC-9B34-4A36-B3BE-636FA0CA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86A14-4527-4179-8E89-9DF6420A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812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Business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43D4F-3006-41BF-A9EE-E31124D2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860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F6C"/>
                </a:solidFill>
              </a:defRPr>
            </a:pPr>
            <a:r>
              <a:rPr sz="1125" b="0" i="0">
                <a:solidFill>
                  <a:srgbClr val="5F6F6C"/>
                </a:solidFill>
              </a:rPr>
              <a:t>Which cases should investigators review first when the team cannot check every transaction?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A31E3-F96B-4556-8377-364AAC87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329BE-2D89-440B-8436-C248FF0A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62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044"/>
          </a:solidFill>
          <a:ln xmlns:a="http://schemas.openxmlformats.org/drawingml/2006/main" w="0">
            <a:solidFill>
              <a:srgbClr val="1670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C332B-A193-4450-9639-201658EC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4A645-6CE5-427E-BBC7-28CA1EE0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My success criteria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F285A-8875-46E6-B4CE-B8DBB1E3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F6C"/>
                </a:solidFill>
              </a:defRPr>
            </a:pPr>
            <a:r>
              <a:rPr sz="1125" b="0" i="0">
                <a:solidFill>
                  <a:srgbClr val="5F6F6C"/>
                </a:solidFill>
              </a:rPr>
              <a:t>Prediction plus explanation, queue usefulness, threshold discipline, and governance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35DDF-D1F3-4C31-A9E4-911671CC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44767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2E937-26E4-4F22-8D10-C5EBBB8C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Why a normal classifier was not enough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853ED-1AA5-4F16-B143-89B38B7C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7CBE9B-E7B8-4B8B-BE36-A39802DA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672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Fraud is rare, so accuracy can be misleading.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77DA2-6E43-4902-A61D-8C475041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0D9CA1-98D3-4BEF-8B83-755C68B1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A bank needs workload and false-positive visibility.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B750CA-5360-4FAC-BD6C-8199B0D8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67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60A2B1-1078-4AD0-9BD3-2F6CAE19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Reviewers need clear reasons before taking action.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3ACFA-C059-4B61-90E3-5D94D078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4767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B4F78-2267-4126-987F-D667F799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64E49"/>
                </a:solidFill>
              </a:defRPr>
            </a:pPr>
            <a:r>
              <a:rPr sz="1650" b="1" i="0">
                <a:solidFill>
                  <a:srgbClr val="064E49"/>
                </a:solidFill>
              </a:rPr>
              <a:t>Conclusion from the brief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FBFA42-F3A4-494F-92F1-93CBA5E8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The useful output is not only fraud vs legitimate. The useful output is a prioritized queue with reasons and operating controls.</a:t>
            </a:r>
          </a:p>
        </p:txBody>
      </p:sp>
    </p:spTree>
    <p:extLst>
      <p:ext uri="{BB962C8B-B14F-4D97-AF65-F5344CB8AC3E}">
        <p14:creationId xmlns:p14="http://schemas.microsoft.com/office/powerpoint/2010/main" val="840810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14EEDD-83AB-415A-A746-3AC4CF01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50B20-3EBB-4E9E-AE2C-7087EF59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Data Foundation And Cleaning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A6BCC-2BB0-4A7A-A3FC-A209AC09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F6C"/>
                </a:solidFill>
              </a:defRPr>
            </a:pPr>
            <a:r>
              <a:rPr sz="1275" b="0" i="0">
                <a:solidFill>
                  <a:srgbClr val="5F6F6C"/>
                </a:solidFill>
              </a:rPr>
              <a:t>The pipeline kept one row per transaction, joined profiles, and protected the model from leakage.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EF2E0-56E5-42C1-8D6F-36F8F0A9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E"/>
          </a:solidFill>
          <a:ln xmlns:a="http://schemas.openxmlformats.org/drawingml/2006/main" w="0">
            <a:solidFill>
              <a:srgbClr val="E7F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6B373-6850-4476-9764-ADB66488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DCB75-2342-4368-9242-69D0929F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Raw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6233D-1DC9-405A-9062-DF69529B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AA552-E0CD-435A-94F1-80AE6470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Transactions: amount, time, channel, country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776C3-ACA6-4459-958E-E93C5174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B4DC7-5AEB-43BB-93C4-8B8AF08D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Customers: KYC risk, home country, identity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49DFD-4F36-4FAF-837B-348CAB7B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06ECD-AB46-4257-BDDC-6298E869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1950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Merchants: category and merchant risk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EC93C-8F24-45E6-BB70-4053DEED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DEFEB-9002-4BED-AFF8-5DF15642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85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Cleaning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F8EBE-2A7B-48E2-A2A8-E50CD1F6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00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70854-3987-460C-95C0-237C4FBF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Parsed timestamps into time features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CD186-0715-4597-9E56-E5475DFD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38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0291B-7044-4EEC-8C5F-02ADF20A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Normalized country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E0219-A69E-4B05-BF8C-B1F4F9F0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498E0-E0E5-43C2-A36F-3541DB24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7660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Left joined customer and merchant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E8DDF-67BB-43E3-8519-C4B9553E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14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EF3E8-7D5C-4A75-BF1C-F8D339B3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1475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Created missing-profile flags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7AC7B-BA75-46AA-AB16-E276B09D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52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79B8C-3EF5-4AF7-8809-082D74EF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5290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Flagged broken tenure values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086BC-A20B-46CD-9D40-CEA39E75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709907-4138-4850-88DF-1A5E17B9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8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Leakage prevention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1F6587-6FB1-426A-A7DE-7B743018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0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74CF31-F49D-43CA-B4CE-A3CA6F35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Removed IDs from predictive features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3E9D9B-3DCD-4FFE-9E76-0DAFD41E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14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52A950-D66F-45D5-A294-1246C781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146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Removed target field fraud_label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CF86A7-AE73-44CE-AC6C-9D3CBF49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9C7F8B-45E8-466B-BEDD-92823326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Excluded old alert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B5FEEB-4E3E-4082-AB86-DB349EBC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43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DD5972-709A-4E5C-9BCF-E996CA0C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Selected features on training data 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D06B8A-8281-4640-9D2E-E1ABD2A3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933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64E49"/>
          </a:solidFill>
          <a:ln xmlns:a="http://schemas.openxmlformats.org/drawingml/2006/main" w="9525">
            <a:solidFill>
              <a:srgbClr val="064E4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01F076-6042-46DA-A25A-A9C3E0D5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00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Talking point: I did not start by training. I first made the data trustworthy enough to model.</a:t>
            </a:r>
          </a:p>
        </p:txBody>
      </p:sp>
    </p:spTree>
    <p:extLst>
      <p:ext uri="{BB962C8B-B14F-4D97-AF65-F5344CB8AC3E}">
        <p14:creationId xmlns:p14="http://schemas.microsoft.com/office/powerpoint/2010/main" val="349630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18A96F-2938-4C49-9BB9-29A87A9C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6B75D-7809-48C1-A0AF-475869C4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Feature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6E0E1-53E2-4D3C-9864-FE7A53CD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F6C"/>
                </a:solidFill>
              </a:defRPr>
            </a:pPr>
            <a:r>
              <a:rPr sz="1275" b="0" i="0">
                <a:solidFill>
                  <a:srgbClr val="5F6F6C"/>
                </a:solidFill>
              </a:rPr>
              <a:t>I limited the model to the top 10 explainable features so the app stayed usable and defensible.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12022-D344-47F7-B5C7-0478FFEF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E"/>
          </a:solidFill>
          <a:ln xmlns:a="http://schemas.openxmlformats.org/drawingml/2006/main" w="0">
            <a:solidFill>
              <a:srgbClr val="E7F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FFBAB-E459-43EB-B0D7-8885A07E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0BF3F-B102-4E0D-8F08-E0E28893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Top feature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6BAEB-B604-4AA7-9382-FD13E186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1. Geographic distance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8F11D-892A-4B71-B301-4C553E1C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2. Transaction country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6F02C-AE5A-438E-8580-AD91F1A3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3. Synthetic identity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A3C3B-5B46-4326-8DC5-6683255B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4. Merchant risk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1E0AB-46C3-4163-87D6-242BFD01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5. Payment channel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CCA43-F05A-4049-B015-258B32BB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6. Transaction hour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45220-BF4F-454E-827C-486CEF58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00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7. Device risk 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CCFD6-BE78-427F-9979-32534009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8. Merchant profile risk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07955-401B-4293-A23D-E3F99AD1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38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9. Transaction amount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A1E84-4258-45AC-8B33-C32F1240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57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10. Log-scaled amount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439BA-6CB5-497C-8862-6FD1C4C9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49530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5D098-CEBF-46F7-89AB-F7DBCEDD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4E49"/>
                </a:solidFill>
              </a:defRPr>
            </a:pPr>
            <a:r>
              <a:rPr sz="1875" b="1" i="0">
                <a:solidFill>
                  <a:srgbClr val="064E49"/>
                </a:solidFill>
              </a:rPr>
              <a:t>How features were selected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C948D-2EAD-4A9A-AB5E-56BB5FB3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I used training-only mutual information to rank candidate predictors. That avoids choosing features using future validation or test information.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A75B5-41AF-46E1-B874-D5FDD841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49530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D4DE7-5762-4BCC-B305-8566BB74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Why these features make sense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CA5E6-A8CD-4E26-B0A9-BE81A090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291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CE4D38-086C-4DA8-BCE1-1DAF76BA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291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Geo distance and country capture unusual transaction location patterns.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7AE687-152F-48BD-8A1E-AA7BB814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52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9D6D5-6AE3-4CBF-A885-12C0682A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529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Device, synthetic identity, and merchant signals reflect fraud risk.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E1B960-866C-4F1B-8C2F-3D069DA7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76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7A4DC2-7518-483F-9ABE-FEBC10D7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768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Amount, channel, and hour add transaction-context behavior.</a:t>
            </a:r>
          </a:p>
        </p:txBody>
      </p:sp>
    </p:spTree>
    <p:extLst>
      <p:ext uri="{BB962C8B-B14F-4D97-AF65-F5344CB8AC3E}">
        <p14:creationId xmlns:p14="http://schemas.microsoft.com/office/powerpoint/2010/main" val="849545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42E90F-49E6-44D5-87CD-18528209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BB10A-629C-4EE8-AF60-0A6A994E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Modeling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02E92-3DE2-4A23-A996-6FE3460F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F6C"/>
                </a:solidFill>
              </a:defRPr>
            </a:pPr>
            <a:r>
              <a:rPr sz="1275" b="0" i="0">
                <a:solidFill>
                  <a:srgbClr val="5F6F6C"/>
                </a:solidFill>
              </a:rPr>
              <a:t>I moved from a baseline classifier to an operating policy that could support an investigator queue.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D4AF8-D1F2-4D08-8EB2-DD4A17D6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E"/>
          </a:solidFill>
          <a:ln xmlns:a="http://schemas.openxmlformats.org/drawingml/2006/main" w="0">
            <a:solidFill>
              <a:srgbClr val="E7F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50F6D-34FC-469E-AE88-64471112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6EF76-79C5-4F9B-8E26-FA721843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73"/>
          </a:solidFill>
          <a:ln xmlns:a="http://schemas.openxmlformats.org/drawingml/2006/main" w="0">
            <a:solidFill>
              <a:srgbClr val="087B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DC777-A013-459F-90F5-C35CC6AB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7E0FE-8BA5-4414-A880-90F3B05E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669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BDDB5-A1A6-49F3-B5DF-19C6D31F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717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F6C"/>
                </a:solidFill>
              </a:defRPr>
            </a:pPr>
            <a:r>
              <a:rPr sz="1125" b="0" i="0">
                <a:solidFill>
                  <a:srgbClr val="5F6F6C"/>
                </a:solidFill>
              </a:rPr>
              <a:t>Logistic regression with imputation, scaling, one-hot encoding, and class weighting.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FEB92-AD28-42A1-9FD9-F86BFD66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32DCC-C807-4965-8ADB-C5CA8743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B21"/>
          </a:solidFill>
          <a:ln xmlns:a="http://schemas.openxmlformats.org/drawingml/2006/main" w="0">
            <a:solidFill>
              <a:srgbClr val="C58B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DAF10-F44E-4F99-894E-ABA1F27E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05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C7F03-DBB8-4096-BBE1-1756212E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669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Model 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4643B-49A3-44B7-A94A-9EEA9FC4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717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F6C"/>
                </a:solidFill>
              </a:defRPr>
            </a:pPr>
            <a:r>
              <a:rPr sz="1125" b="0" i="0">
                <a:solidFill>
                  <a:srgbClr val="5F6F6C"/>
                </a:solidFill>
              </a:rPr>
              <a:t>Compared weighted tree and ensemble candidates using PR-AUC, recall, precision, and review load.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291ED-FEB3-4D16-9623-320E8745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14B4B-1642-4EF0-BF8C-D45E3F48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47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044"/>
          </a:solidFill>
          <a:ln xmlns:a="http://schemas.openxmlformats.org/drawingml/2006/main" w="0">
            <a:solidFill>
              <a:srgbClr val="1670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BFAE5-6123-4BF6-8E7B-3B820D1B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050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BE3E1-725A-4A98-B9CA-58A9E2A6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Risk triage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0751F-9C66-4A7E-9F66-142DDF12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F6C"/>
                </a:solidFill>
              </a:defRPr>
            </a:pPr>
            <a:r>
              <a:rPr sz="1125" b="0" i="0">
                <a:solidFill>
                  <a:srgbClr val="5F6F6C"/>
                </a:solidFill>
              </a:rPr>
              <a:t>Renamed reviewer-facing evidence around a risk-ranking engine instead of a model leaderboard.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50A94-EE79-4CBC-8D70-88273FE1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028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30B6A-B314-4A0E-9B19-B86992DD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What I learned from model comparison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3E7CE-07F8-4929-8FC1-6FE18E1B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The highest technical score was not the whole answer. Fraud operations need a useful queue: how many cases are reviewed, how many frauds are caught, and how many false positives investigators must handle.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5CFE7-4652-4EF0-A694-FEDE2297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C53B0F-E8B7-4BB6-A833-6C29E29E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73"/>
          </a:solidFill>
          <a:ln xmlns:a="http://schemas.openxmlformats.org/drawingml/2006/main" w="0">
            <a:solidFill>
              <a:srgbClr val="087B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2027E5-A4A7-4AEF-93FC-57CD2296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054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RANKING QUALITY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BA66C-450E-4769-9A9A-B54EE31D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8102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0.141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DA880-6683-4741-820F-2B549ABF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3149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EB9CAF-237C-402C-A26D-43589901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3149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B21"/>
          </a:solidFill>
          <a:ln xmlns:a="http://schemas.openxmlformats.org/drawingml/2006/main" w="0">
            <a:solidFill>
              <a:srgbClr val="C58B2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4286C0-2EFB-41B0-AD33-4F6C3ADB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054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HELD-OUT REVIEW COUNT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D95C80-B042-4712-87CC-7B298414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1025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74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8CAC2-95BE-4FCD-AA66-1777023E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14950"/>
            <a:ext cx="1905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ADBC45-ECA7-4C9E-8C33-B0EB68FE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1495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044"/>
          </a:solidFill>
          <a:ln xmlns:a="http://schemas.openxmlformats.org/drawingml/2006/main" w="0">
            <a:solidFill>
              <a:srgbClr val="1670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32F501-D9D0-4DF3-99D2-3F7BCB56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054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TRUE POSITIVES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D00C58-4E4E-4F3A-8E47-416BC4D1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102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22C88D-B6D0-4853-AC5A-3531421E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14950"/>
            <a:ext cx="1905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930A40-1CE8-42A9-B163-DCF3A8AF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1495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3525"/>
          </a:solidFill>
          <a:ln xmlns:a="http://schemas.openxmlformats.org/drawingml/2006/main" w="0">
            <a:solidFill>
              <a:srgbClr val="A7352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ED5C53-E2CA-4314-A939-60715A95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054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FALSE POSITIVES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0492C8-0C5C-4828-894C-9B0100E2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102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5829378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745138-82C8-4012-BAD4-112616E2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F3E53-9E04-4E05-9F3D-7AFF90AB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Threshold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790DD-ECCF-456D-9049-6F09555A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F6C"/>
                </a:solidFill>
              </a:defRPr>
            </a:pPr>
            <a:r>
              <a:rPr sz="1275" b="0" i="0">
                <a:solidFill>
                  <a:srgbClr val="5F6F6C"/>
                </a:solidFill>
              </a:rPr>
              <a:t>The conclusion was a review policy, not just a probability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5B66D-70BB-41BB-A175-496349F3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E"/>
          </a:solidFill>
          <a:ln xmlns:a="http://schemas.openxmlformats.org/drawingml/2006/main" w="0">
            <a:solidFill>
              <a:srgbClr val="E7F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77DF4-D7C8-432B-9965-05F31D1F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C97D4-F06C-478D-B50D-05AD94AB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73"/>
          </a:solidFill>
          <a:ln xmlns:a="http://schemas.openxmlformats.org/drawingml/2006/main" w="0">
            <a:solidFill>
              <a:srgbClr val="087B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E7E91-15CA-48CA-89FB-929F5218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RECOMMENDED THRESHOLD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736B4-162D-4DD0-BC0E-D97D9652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0.798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A66CF-6BBE-4B5C-BC74-2B2012F4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811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6E30C-FE7D-4ABA-94B9-9B3B10AC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811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B21"/>
          </a:solidFill>
          <a:ln xmlns:a="http://schemas.openxmlformats.org/drawingml/2006/main" w="0">
            <a:solidFill>
              <a:srgbClr val="C58B2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464B5-B0B7-4E7D-883A-79423C9C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716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TARGET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C52C7-1C10-4AC1-8A1A-BF0E3D77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7645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AD163-E1C2-44B9-94A5-66AAD1BC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197A0-AEBD-448B-938C-8FF12B0A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044"/>
          </a:solidFill>
          <a:ln xmlns:a="http://schemas.openxmlformats.org/drawingml/2006/main" w="0">
            <a:solidFill>
              <a:srgbClr val="1670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7D168-E3FC-44C9-91C0-4783D40A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716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QUEUE HIT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FD0D6-885D-42CF-A44C-AE76257F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7645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13.5%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BF139-2BC0-413F-9D59-4C65BB8A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B96CB-CEE5-4442-9B82-79BA3A71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044"/>
          </a:solidFill>
          <a:ln xmlns:a="http://schemas.openxmlformats.org/drawingml/2006/main" w="0">
            <a:solidFill>
              <a:srgbClr val="1670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3D723-1B3A-4767-85DA-8B18C825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716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FRAUD CAPTURE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2BE848-4CD3-4F18-8860-D8738B72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25.0%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9BB39-2819-470E-8F3C-5CDA381E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4762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0FE41-9E6F-4316-B4AC-AE1CF02C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Why threshold matters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2D249-6033-416E-9CCC-C5828E97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35C51-B27E-4069-841B-3698F253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Lower threshold: catches more fraud but creates more false positives.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CE468-7ED4-4688-A784-D1AD4119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8540C5-4D3E-4B3C-8CC2-AF960734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Higher threshold: smaller queue but more missed fraud.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119A4-D1A7-4696-84D8-4903B188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86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5DB7D2-16AC-4660-B1B8-1DB0DB18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863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Capacity becomes a business decision, not a hidden model setting.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79412-5CE8-4A91-A12C-B15C80A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4762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B7232F-A38D-45D6-A17C-FF259353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4E49"/>
                </a:solidFill>
              </a:defRPr>
            </a:pPr>
            <a:r>
              <a:rPr sz="1875" b="1" i="0">
                <a:solidFill>
                  <a:srgbClr val="064E49"/>
                </a:solidFill>
              </a:rPr>
              <a:t>Final policy decision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89A1CF-C9B4-4C6D-A35C-6331E938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Use a 0.798 review threshold for the prototype, monitor the actual queue rate, and allow exact top-K selection when staffing is fixed.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9C8677-47B1-480B-B2EE-7C8F7CEF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5B95C4-E1D7-4984-BC30-4B7F6DD0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64E49"/>
                </a:solidFill>
              </a:defRPr>
            </a:pPr>
            <a:r>
              <a:rPr sz="1275" b="1" i="0">
                <a:solidFill>
                  <a:srgbClr val="064E49"/>
                </a:solidFill>
              </a:rPr>
              <a:t>Benchmark story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D80FB9-BF5B-42C9-9621-E091A5A4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673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Old alert: 22 reviews, 8 frauds, 14 false positives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39D6F0-0853-42CA-8F98-3443AE0F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67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827"/>
                </a:solidFill>
              </a:defRPr>
            </a:pPr>
            <a:r>
              <a:rPr sz="1125" b="0" i="0">
                <a:solidFill>
                  <a:srgbClr val="111827"/>
                </a:solidFill>
              </a:rPr>
              <a:t>Risk triage: 74 reviews, 10 frauds, 64 false positives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918737-0CF2-4F8B-8AB0-E52F026A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67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64E49"/>
                </a:solidFill>
              </a:defRPr>
            </a:pPr>
            <a:r>
              <a:rPr sz="1125" b="1" i="0">
                <a:solidFill>
                  <a:srgbClr val="064E49"/>
                </a:solidFill>
              </a:rPr>
              <a:t>Trade-off: +2 caught frauds for +52 extra reviews</a:t>
            </a:r>
          </a:p>
        </p:txBody>
      </p:sp>
    </p:spTree>
    <p:extLst>
      <p:ext uri="{BB962C8B-B14F-4D97-AF65-F5344CB8AC3E}">
        <p14:creationId xmlns:p14="http://schemas.microsoft.com/office/powerpoint/2010/main" val="8381221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F43AC-68F4-401B-BD3E-67621DC6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F6E65-BC7A-4D33-9711-4771924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From Model To Analyst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7852C-44E9-4681-9015-887DDCF2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F6C"/>
                </a:solidFill>
              </a:defRPr>
            </a:pPr>
            <a:r>
              <a:rPr sz="1275" b="0" i="0">
                <a:solidFill>
                  <a:srgbClr val="5F6F6C"/>
                </a:solidFill>
              </a:rPr>
              <a:t>I turned the model into a static Vercel app so the reviewer can score, inspect, and export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51770-25F6-4296-AD4B-299584B5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E"/>
          </a:solidFill>
          <a:ln xmlns:a="http://schemas.openxmlformats.org/drawingml/2006/main" w="0">
            <a:solidFill>
              <a:srgbClr val="E7F0EE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2ee664d654bf9"/>
          <a:stretch xmlns:a="http://schemas.openxmlformats.org/drawingml/2006/main"/>
        </p:blipFill>
        <p:spPr>
          <a:xfrm xmlns:a="http://schemas.openxmlformats.org/drawingml/2006/main">
            <a:off x="1384415" y="1524000"/>
            <a:ext cx="4813069" cy="3676650"/>
          </a:xfrm>
          <a:prstGeom xmlns:a="http://schemas.openxmlformats.org/drawingml/2006/main" prst="roundRect">
            <a:avLst>
              <a:gd name="adj" fmla="val 207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904FF-EBA3-490F-9980-D911FC35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19250"/>
            <a:ext cx="3810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2BEDF-C0FA-463A-93E4-0F8CBF52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Score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6AA82-2AAC-496D-851B-010D094A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57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EDEDF-0C96-4B06-AF50-A4B6CB9B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Transaction ID lookup and manual scoring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029FC-0438-45C0-AD16-A82B0250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57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B0508-3C9D-4EBF-86CE-8D7D8C23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Fraud probability and priority tier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8862A-D561-4A2D-BC1D-2A2BC660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57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02F51-465C-4A97-9566-3531A136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Plain-English why section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AE076-FE3D-4C20-AEDA-0CFBB40A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57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CA536-91F2-48ED-9923-6E8DCA45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Investigator next steps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91D54-A567-4208-9FBB-4EDA1F60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C6363-73EE-4057-95FA-9698BEE9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576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CSV export for case evidence</a:t>
            </a:r>
          </a:p>
        </p:txBody>
      </p:sp>
    </p:spTree>
    <p:extLst>
      <p:ext uri="{BB962C8B-B14F-4D97-AF65-F5344CB8AC3E}">
        <p14:creationId xmlns:p14="http://schemas.microsoft.com/office/powerpoint/2010/main" val="15527919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D4B08E-84C4-451D-ADF6-BD71ACAD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8372F-295B-4051-8781-49764094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Queue And Operating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0A2B7-2125-4A77-A470-3D931607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F6C"/>
                </a:solidFill>
              </a:defRPr>
            </a:pPr>
            <a:r>
              <a:rPr sz="1275" b="0" i="0">
                <a:solidFill>
                  <a:srgbClr val="5F6F6C"/>
                </a:solidFill>
              </a:rPr>
              <a:t>The app shows workload, false positives, rule gaps, and highest-risk cases for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4B207-3C06-45D3-B8E1-8BF914C3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E"/>
          </a:solidFill>
          <a:ln xmlns:a="http://schemas.openxmlformats.org/drawingml/2006/main" w="0">
            <a:solidFill>
              <a:srgbClr val="E7F0EE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c0ab3e4714428"/>
          <a:stretch xmlns:a="http://schemas.openxmlformats.org/drawingml/2006/main"/>
        </p:blipFill>
        <p:spPr>
          <a:xfrm xmlns:a="http://schemas.openxmlformats.org/drawingml/2006/main">
            <a:off x="1235652" y="1524000"/>
            <a:ext cx="4862945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888DA-F34D-437F-8610-1E167915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4000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99E51-B9C2-468F-8AD0-A530F79E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Queue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041D6-A19A-47DD-99DE-DC41C02E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594C3-B3DF-4C3E-B733-FADF26E3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73"/>
          </a:solidFill>
          <a:ln xmlns:a="http://schemas.openxmlformats.org/drawingml/2006/main" w="0">
            <a:solidFill>
              <a:srgbClr val="087B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56EA8-4F4E-4780-8361-9EA9640F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336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REVIEW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06213-E26C-413D-A6C8-942D249A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38450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74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5D27F-362C-46B8-92D4-CFFA05C4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63AE4-10C5-47A9-A502-530F2764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044"/>
          </a:solidFill>
          <a:ln xmlns:a="http://schemas.openxmlformats.org/drawingml/2006/main" w="0">
            <a:solidFill>
              <a:srgbClr val="167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FA23C-3DD7-4048-8154-BD69E488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336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FRAUDS IN QUEUE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E125B-1462-4092-B773-2CF5C3F8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38450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6736E-0432-460E-B8C4-3489278D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052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2A649-DFB5-4B18-9FC9-B7D20306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052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B21"/>
          </a:solidFill>
          <a:ln xmlns:a="http://schemas.openxmlformats.org/drawingml/2006/main" w="0">
            <a:solidFill>
              <a:srgbClr val="C58B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FCD1A-D91A-4609-AAE0-3BECC4BA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957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RULE-GAP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92AE4-556D-4263-AF8F-4213C9D5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00500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AAC2F-B963-418F-B18B-AD1C1330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052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355F1-D495-4CF8-B232-5452FD7E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052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3525"/>
          </a:solidFill>
          <a:ln xmlns:a="http://schemas.openxmlformats.org/drawingml/2006/main" w="0">
            <a:solidFill>
              <a:srgbClr val="A7352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B487A-63FB-4949-A1D6-05604812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957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F6C"/>
                </a:solidFill>
              </a:defRPr>
            </a:pPr>
            <a:r>
              <a:rPr sz="975" b="1" i="0">
                <a:solidFill>
                  <a:srgbClr val="5F6F6C"/>
                </a:solidFill>
              </a:rPr>
              <a:t>FALSE POSITIVES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F3F52-1FE7-4325-A4E1-F8EFD801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00500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64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D682A-2850-42EA-8F2E-29A857B4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F6C"/>
                </a:solidFill>
              </a:defRPr>
            </a:pPr>
            <a:r>
              <a:rPr sz="1275" b="0" i="0">
                <a:solidFill>
                  <a:srgbClr val="5F6F6C"/>
                </a:solidFill>
              </a:rPr>
              <a:t>This is where the project becomes operational: it tells the investigator what to review now and shows leadership the workload trade-off.</a:t>
            </a:r>
          </a:p>
        </p:txBody>
      </p:sp>
    </p:spTree>
    <p:extLst>
      <p:ext uri="{BB962C8B-B14F-4D97-AF65-F5344CB8AC3E}">
        <p14:creationId xmlns:p14="http://schemas.microsoft.com/office/powerpoint/2010/main" val="11267149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E35683-54FD-4C3A-92BA-B5D03F49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79DE9-1265-4B73-9C7E-7BE47B39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Explainability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9C23F-09CD-42F4-B12C-BBDF8CD2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F6C"/>
                </a:solidFill>
              </a:defRPr>
            </a:pPr>
            <a:r>
              <a:rPr sz="1275" b="0" i="0">
                <a:solidFill>
                  <a:srgbClr val="5F6F6C"/>
                </a:solidFill>
              </a:rPr>
              <a:t>The system explains which feature values pushed the score up or down for a specific transaction.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374BB-5B58-4937-B6BF-E7ACFA49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E"/>
          </a:solidFill>
          <a:ln xmlns:a="http://schemas.openxmlformats.org/drawingml/2006/main" w="0">
            <a:solidFill>
              <a:srgbClr val="E7F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C7898-CC17-496F-9C89-47676409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74345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5D29D-65E1-495A-B276-CBD2D7B3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43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Example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2C2ED-3DD5-4245-AA37-E339F9C8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827"/>
                </a:solidFill>
              </a:defRPr>
            </a:pPr>
            <a:r>
              <a:rPr sz="1575" b="0" i="0">
                <a:solidFill>
                  <a:srgbClr val="111827"/>
                </a:solidFill>
              </a:rPr>
              <a:t>Critical risk is mainly driven by Geographic distance above the typical reference value, plus transaction amount above the usual amount profile.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E466E-90A5-44BF-8ACD-08179B56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E"/>
          </a:solidFill>
          <a:ln xmlns:a="http://schemas.openxmlformats.org/drawingml/2006/main" w="0">
            <a:solidFill>
              <a:srgbClr val="E7F0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CB00A-4918-4216-A04E-09454464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08199-A053-45CE-B7C4-40B4E055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Global view: strongest broad model drivers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809BC-9232-44B7-93DF-DB7669F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6A9FB-7109-4ACD-95C8-DF580CE6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Local view: reasons for this exact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4EB76-E274-4D1C-AB5B-AA7F7A39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9B4FB-F1E7-4805-8CB2-FC77893F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Investigator view: what to check 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8EF59-5F71-479F-BA88-29BE887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74345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FDC23-21FA-48CD-BE75-572E2DB7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43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4E49"/>
                </a:solidFill>
              </a:defRPr>
            </a:pPr>
            <a:r>
              <a:rPr sz="1875" b="1" i="0">
                <a:solidFill>
                  <a:srgbClr val="064E49"/>
                </a:solidFill>
              </a:rPr>
              <a:t>How I explain it simply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05B08-A530-4684-A897-1E473EFD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827"/>
                </a:solidFill>
              </a:defRPr>
            </a:pPr>
            <a:r>
              <a:rPr sz="1575" b="0" i="0">
                <a:solidFill>
                  <a:srgbClr val="111827"/>
                </a:solidFill>
              </a:rPr>
              <a:t>The explanation is not saying the feature caused fraud. It is saying the model treated that feature value as unusual and risk-increasing compared with a typical transaction.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6FC1B-4401-4255-B014-0B453C3E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64E49"/>
                </a:solidFill>
              </a:defRPr>
            </a:pPr>
            <a:r>
              <a:rPr sz="1575" b="1" i="0">
                <a:solidFill>
                  <a:srgbClr val="064E49"/>
                </a:solidFill>
              </a:rPr>
              <a:t>This protects the wording: model behavior, not guaranteed causality.</a:t>
            </a:r>
          </a:p>
        </p:txBody>
      </p:sp>
    </p:spTree>
    <p:extLst>
      <p:ext uri="{BB962C8B-B14F-4D97-AF65-F5344CB8AC3E}">
        <p14:creationId xmlns:p14="http://schemas.microsoft.com/office/powerpoint/2010/main" val="19193668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1624D-6880-4A11-8C0C-FEBC3BAA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FA58D-F1B7-44A3-82AF-F630414F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Governance And Responsible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9BEF6-60E5-44D5-AB2C-C42014B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F6C"/>
                </a:solidFill>
              </a:defRPr>
            </a:pPr>
            <a:r>
              <a:rPr sz="1275" b="0" i="0">
                <a:solidFill>
                  <a:srgbClr val="5F6F6C"/>
                </a:solidFill>
              </a:rPr>
              <a:t>The final solution is positioned as decision support with human review, not automatic blocking.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E1245-6C1B-42CF-9736-A473B23D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E"/>
          </a:solidFill>
          <a:ln xmlns:a="http://schemas.openxmlformats.org/drawingml/2006/main" w="0">
            <a:solidFill>
              <a:srgbClr val="E7F0EE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f6cae3be94858"/>
          <a:stretch xmlns:a="http://schemas.openxmlformats.org/drawingml/2006/main"/>
        </p:blipFill>
        <p:spPr>
          <a:xfrm xmlns:a="http://schemas.openxmlformats.org/drawingml/2006/main">
            <a:off x="1248121" y="1543050"/>
            <a:ext cx="4838007" cy="3695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2F565-6AE7-43A3-AC15-A582D0ED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62100"/>
            <a:ext cx="40005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83D1C-B373-4C24-A8CC-01E131F4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47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Controls I documented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FA09F-8664-4A47-AE43-88431E84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740C1-4D26-48DF-A0DB-DFD991E9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Model card and intended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21B13-261C-4F35-B565-B0108603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43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97AF0-C3F5-4CC1-8498-2BDAC2B4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Threshold strategy memo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28EFA-C2DF-44A0-98E1-F3D5305C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05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7EEEB-09CF-4FE4-9A69-158B9BFE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Human-in-the-loop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28494-7936-4383-86A7-B2D35AB6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671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1F270-8164-4EC4-A1FB-304AB2B9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Segment and drift monitoring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848EE-751C-4B55-8DA1-77F0B644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29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14703-1133-42A9-B086-5EC42B6A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Risk register and approval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18B96-6AB8-48DC-BC02-4150E86C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91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CAFA6-DA91-4C13-85E7-7B7E5E9B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Production limitation: synthetic data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69A67-2C2D-4047-8E08-A8D906F8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006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64E49"/>
                </a:solidFill>
              </a:defRPr>
            </a:pPr>
            <a:r>
              <a:rPr sz="1425" b="1" i="0">
                <a:solidFill>
                  <a:srgbClr val="064E49"/>
                </a:solidFill>
              </a:rPr>
              <a:t>Best line: The model can prioritize review, but a human decides action.</a:t>
            </a:r>
          </a:p>
        </p:txBody>
      </p:sp>
    </p:spTree>
    <p:extLst>
      <p:ext uri="{BB962C8B-B14F-4D97-AF65-F5344CB8AC3E}">
        <p14:creationId xmlns:p14="http://schemas.microsoft.com/office/powerpoint/2010/main" val="11940979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3BDF1C-E9E1-4069-950A-92909074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8A5F1-E7FF-43AF-84BB-CA4BAF9C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Improvements After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927F5-9360-49E3-8CE3-C402AC05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F6C"/>
                </a:solidFill>
              </a:defRPr>
            </a:pPr>
            <a:r>
              <a:rPr sz="1275" b="0" i="0">
                <a:solidFill>
                  <a:srgbClr val="5F6F6C"/>
                </a:solidFill>
              </a:rPr>
              <a:t>I used review comments to move the project from demo-quality to submission-ready.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05749-F068-447C-ADDD-05B78737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E"/>
          </a:solidFill>
          <a:ln xmlns:a="http://schemas.openxmlformats.org/drawingml/2006/main" w="0">
            <a:solidFill>
              <a:srgbClr val="E7F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F7B15-09F9-4721-B31E-AAB61254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47625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1A8B0-8107-40BE-A426-1B1F9199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Before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3C81D-BC97-4163-9DCC-2BB53E6A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D87DF-9C7D-453A-A815-785CB010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365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The model and app worked, but the story was too product-summary focused.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933B3-FCAC-4030-BA2D-1817E20C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DF2F8-42DE-4CDA-816B-A41B0B5D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95600"/>
            <a:ext cx="365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Some app labels were too technical or looked like buttons.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AFFC1-B873-4976-9FF1-13D6D408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AAD9C-ED69-4FF9-A080-B7454726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65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The export report was not as reviewer-friendly as it should be.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894F0-FB2C-4973-94C2-434D1B77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3CF40-0E7B-455B-9AD7-8B079604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365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The first PPT did not clearly explain the journey.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80286-402D-4C59-A1CD-A9B35F11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7625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2BC06-EEF9-4CFC-9F8A-05E4D4D7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4E49"/>
                </a:solidFill>
              </a:defRPr>
            </a:pPr>
            <a:r>
              <a:rPr sz="1875" b="1" i="0">
                <a:solidFill>
                  <a:srgbClr val="064E49"/>
                </a:solidFill>
              </a:rPr>
              <a:t>After 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6636E-6F4A-4799-AF8C-A9EACB4B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76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CD24D-F9A0-4EFB-8774-BAC7DE9E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365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Cleaner app wording and stronger analyst layout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E99CD-3486-41CA-8870-410F7DE4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95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0AC29-43BF-4D2B-BCCC-92589DD4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95600"/>
            <a:ext cx="365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Transaction search, drilldown, and CSV case export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6A8344-72BD-47F6-ABD8-00F3E10D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317E0-4246-4C81-BA89-F36EE5C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365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Presenter Mode for explaining how each section was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B15FF-1DE0-426F-9B2D-7C2CF454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33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B73"/>
                </a:solidFill>
              </a:defRPr>
            </a:pPr>
            <a:r>
              <a:rPr sz="1350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DCB002-D0FF-4025-9EE1-0BB39A73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365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Journey-based PPT and professional written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F8734-7BE9-40E6-8473-2F02B358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64E49"/>
                </a:solidFill>
              </a:defRPr>
            </a:pPr>
            <a:r>
              <a:rPr sz="1650" b="1" i="0">
                <a:solidFill>
                  <a:srgbClr val="064E49"/>
                </a:solidFill>
              </a:rPr>
              <a:t>This shows improvement, ownership, and the ability to respond to stakeholder feedback.</a:t>
            </a:r>
          </a:p>
        </p:txBody>
      </p:sp>
    </p:spTree>
    <p:extLst>
      <p:ext uri="{BB962C8B-B14F-4D97-AF65-F5344CB8AC3E}">
        <p14:creationId xmlns:p14="http://schemas.microsoft.com/office/powerpoint/2010/main" val="6671844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468402-2F43-470E-AC59-F879315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B73"/>
                </a:solidFill>
              </a:defRPr>
            </a:pPr>
            <a:r>
              <a:rPr sz="1200" b="1" i="0">
                <a:solidFill>
                  <a:srgbClr val="087B73"/>
                </a:solidFill>
              </a:rPr>
              <a:t>012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A4E96-C27C-4395-9064-EFAE1DE7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Final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6F098-7EFB-450D-877B-78F942C7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382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F6C"/>
                </a:solidFill>
              </a:defRPr>
            </a:pPr>
            <a:r>
              <a:rPr sz="1275" b="0" i="0">
                <a:solidFill>
                  <a:srgbClr val="5F6F6C"/>
                </a:solidFill>
              </a:rPr>
              <a:t>The finished project demonstrates analytics, business judgement, deployment, and governance.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2B54F-4B5C-4AA8-8184-E66919B0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E"/>
          </a:solidFill>
          <a:ln xmlns:a="http://schemas.openxmlformats.org/drawingml/2006/main" w="0">
            <a:solidFill>
              <a:srgbClr val="E7F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7A1B0-AE2B-4CE4-A089-BDF33749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49530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F5675-51E8-45AD-A7A4-E4282102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What I concluded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032F5-46E4-4A6C-9459-70B707A8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428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A fraud model is most valuable when it helps a bank answer: which cases should be reviewed first, why are they risky, how many false positives will we create, and what controls are needed before use?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56620-132C-450E-912D-57B4AE0F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64E49"/>
                </a:solidFill>
              </a:defRPr>
            </a:pPr>
            <a:r>
              <a:rPr sz="1800" b="1" i="0">
                <a:solidFill>
                  <a:srgbClr val="064E49"/>
                </a:solidFill>
              </a:rPr>
              <a:t>That is why my final output is a control tower, not only a prediction notebook.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1F6D5-AE64-4265-8D01-D3ACA581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00200"/>
            <a:ext cx="47625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DFF3EF"/>
          </a:solidFill>
          <a:ln xmlns:a="http://schemas.openxmlformats.org/drawingml/2006/main" w="9525">
            <a:solidFill>
              <a:srgbClr val="CBDA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0BD1E-2EFF-45F2-BB5F-AAD109A4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05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64E49"/>
                </a:solidFill>
              </a:defRPr>
            </a:pPr>
            <a:r>
              <a:rPr sz="1950" b="1" i="0">
                <a:solidFill>
                  <a:srgbClr val="064E49"/>
                </a:solidFill>
              </a:rPr>
              <a:t>What I would do 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57133-5DE9-4C40-9990-DC46D1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19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99738-0A30-4ADF-9382-003AAB02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19350"/>
            <a:ext cx="365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Calibrate probabilities with real production-like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4708F-846F-4FE5-AE1A-5E42807B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2413C-D96C-445E-9EB0-AA258AFD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365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Add real SHAP explanations for model-level rigor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F4AAE-BF2F-4AC5-B17F-236CA68B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6F463-C49B-492C-81F3-D63D73A8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81350"/>
            <a:ext cx="365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Monitor segment performance by country, channel, and amount band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BB279-30D6-41AD-BFCC-F5697C1E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62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012F6-E155-4B1F-B7CD-A8A83823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365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Run the model in shadow mode before any customer-impacting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3C8E5-B5D7-4CEE-995E-E7636064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43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B73"/>
                </a:solidFill>
              </a:defRPr>
            </a:pPr>
            <a:r>
              <a:rPr sz="1275" b="1" i="0">
                <a:solidFill>
                  <a:srgbClr val="087B73"/>
                </a:solidFill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FC39F-2759-42E5-B192-59DC63A7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65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827"/>
                </a:solidFill>
              </a:defRPr>
            </a:pPr>
            <a:r>
              <a:rPr sz="1275" b="0" i="0">
                <a:solidFill>
                  <a:srgbClr val="111827"/>
                </a:solidFill>
              </a:rPr>
              <a:t>Collect investigator feedback and retrain when patterns drift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00185-F747-4426-9B73-A52C1FF0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64E49"/>
          </a:solidFill>
          <a:ln xmlns:a="http://schemas.openxmlformats.org/drawingml/2006/main" w="9525">
            <a:solidFill>
              <a:srgbClr val="064E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47043-6798-4CBB-BAFE-96C52098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05475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Closing line: I built this as an end-to-end fraud analytics project, from data cleaning to a governed investigator workflow.</a:t>
            </a:r>
          </a:p>
        </p:txBody>
      </p:sp>
    </p:spTree>
    <p:extLst>
      <p:ext uri="{BB962C8B-B14F-4D97-AF65-F5344CB8AC3E}">
        <p14:creationId xmlns:p14="http://schemas.microsoft.com/office/powerpoint/2010/main" val="1424908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2026-06-21T01:57:04.5680000Z</dcterms:created>
  <dcterms:modified xsi:type="dcterms:W3CDTF">2026-06-21T01:57:04.5680000Z</dcterms:modified>
</coreProperties>
</file>