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7c6113a7004b67" /><Relationship Type="http://schemas.openxmlformats.org/officeDocument/2006/relationships/extended-properties" Target="/docProps/app.xml" Id="Rdbea0e20ac9a4393" /><Relationship Type="http://schemas.openxmlformats.org/officeDocument/2006/relationships/officeDocument" Target="/ppt/presentation.xml" Id="R2d7649a02b164d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d06cb9692904f91"/>
  </p:sldMasterIdLst>
  <p:notesMasterIdLst>
    <p:notesMasterId xmlns:r="http://schemas.openxmlformats.org/officeDocument/2006/relationships" r:id="R354a4830110c4791"/>
  </p:notesMasterIdLst>
  <p:sldIdLst>
    <p:sldId xmlns:r="http://schemas.openxmlformats.org/officeDocument/2006/relationships" id="256" r:id="Raab4e91fe8194bef"/>
    <p:sldId xmlns:r="http://schemas.openxmlformats.org/officeDocument/2006/relationships" id="257" r:id="R6e3af7227fb24641"/>
    <p:sldId xmlns:r="http://schemas.openxmlformats.org/officeDocument/2006/relationships" id="258" r:id="Re80b527c79d845ec"/>
    <p:sldId xmlns:r="http://schemas.openxmlformats.org/officeDocument/2006/relationships" id="259" r:id="Raf1d3db9de6640b1"/>
    <p:sldId xmlns:r="http://schemas.openxmlformats.org/officeDocument/2006/relationships" id="260" r:id="Rceb334e252e54c30"/>
    <p:sldId xmlns:r="http://schemas.openxmlformats.org/officeDocument/2006/relationships" id="261" r:id="Rccfd2a05a5e24fe8"/>
    <p:sldId xmlns:r="http://schemas.openxmlformats.org/officeDocument/2006/relationships" id="262" r:id="Rf240744ad82f4fef"/>
    <p:sldId xmlns:r="http://schemas.openxmlformats.org/officeDocument/2006/relationships" id="263" r:id="Rf43b680ec8e64153"/>
    <p:sldId xmlns:r="http://schemas.openxmlformats.org/officeDocument/2006/relationships" id="264" r:id="R9488c4eab285418b"/>
    <p:sldId xmlns:r="http://schemas.openxmlformats.org/officeDocument/2006/relationships" id="265" r:id="R1fb698607d224f92"/>
    <p:sldId xmlns:r="http://schemas.openxmlformats.org/officeDocument/2006/relationships" id="266" r:id="R6d1c2e0b9b2e4818"/>
    <p:sldId xmlns:r="http://schemas.openxmlformats.org/officeDocument/2006/relationships" id="267" r:id="Rc4cc7255cb8448fc"/>
    <p:sldId xmlns:r="http://schemas.openxmlformats.org/officeDocument/2006/relationships" id="268" r:id="R583b161f72534af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3caa2de02245aa" /><Relationship Type="http://schemas.openxmlformats.org/officeDocument/2006/relationships/slideMaster" Target="/ppt/slideMasters/slideMaster1.xml" Id="Rbd06cb9692904f91" /><Relationship Type="http://schemas.openxmlformats.org/officeDocument/2006/relationships/notesMaster" Target="/ppt/notesMasters/notesMaster1.xml" Id="R354a4830110c4791" /><Relationship Type="http://schemas.openxmlformats.org/officeDocument/2006/relationships/presProps" Target="/ppt/presProps.xml" Id="R25e2aaea105f46d4" /><Relationship Type="http://schemas.openxmlformats.org/officeDocument/2006/relationships/tableStyles" Target="/ppt/tableStyles.xml" Id="Rd524ed1295674d08" /><Relationship Type="http://schemas.openxmlformats.org/officeDocument/2006/relationships/slide" Target="/ppt/slides/slide1.xml" Id="Raab4e91fe8194bef" /><Relationship Type="http://schemas.openxmlformats.org/officeDocument/2006/relationships/slide" Target="/ppt/slides/slide2.xml" Id="R6e3af7227fb24641" /><Relationship Type="http://schemas.openxmlformats.org/officeDocument/2006/relationships/slide" Target="/ppt/slides/slide3.xml" Id="Re80b527c79d845ec" /><Relationship Type="http://schemas.openxmlformats.org/officeDocument/2006/relationships/slide" Target="/ppt/slides/slide4.xml" Id="Raf1d3db9de6640b1" /><Relationship Type="http://schemas.openxmlformats.org/officeDocument/2006/relationships/slide" Target="/ppt/slides/slide5.xml" Id="Rceb334e252e54c30" /><Relationship Type="http://schemas.openxmlformats.org/officeDocument/2006/relationships/slide" Target="/ppt/slides/slide6.xml" Id="Rccfd2a05a5e24fe8" /><Relationship Type="http://schemas.openxmlformats.org/officeDocument/2006/relationships/slide" Target="/ppt/slides/slide7.xml" Id="Rf240744ad82f4fef" /><Relationship Type="http://schemas.openxmlformats.org/officeDocument/2006/relationships/slide" Target="/ppt/slides/slide8.xml" Id="Rf43b680ec8e64153" /><Relationship Type="http://schemas.openxmlformats.org/officeDocument/2006/relationships/slide" Target="/ppt/slides/slide9.xml" Id="R9488c4eab285418b" /><Relationship Type="http://schemas.openxmlformats.org/officeDocument/2006/relationships/slide" Target="/ppt/slides/slide10.xml" Id="R1fb698607d224f92" /><Relationship Type="http://schemas.openxmlformats.org/officeDocument/2006/relationships/slide" Target="/ppt/slides/slide11.xml" Id="R6d1c2e0b9b2e4818" /><Relationship Type="http://schemas.openxmlformats.org/officeDocument/2006/relationships/slide" Target="/ppt/slides/slide12.xml" Id="Rc4cc7255cb8448fc" /><Relationship Type="http://schemas.openxmlformats.org/officeDocument/2006/relationships/slide" Target="/ppt/slides/slide13.xml" Id="R583b161f72534af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83f0a0f499a42d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b3af4eb138b4986" /><Relationship Type="http://schemas.openxmlformats.org/officeDocument/2006/relationships/notesMaster" Target="/ppt/notesMasters/notesMaster1.xml" Id="R92428548e21d4ad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af05d224ae74398" /><Relationship Type="http://schemas.openxmlformats.org/officeDocument/2006/relationships/notesMaster" Target="/ppt/notesMasters/notesMaster1.xml" Id="R2f12270a0b964d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e3cf60f002b41b7" /><Relationship Type="http://schemas.openxmlformats.org/officeDocument/2006/relationships/notesMaster" Target="/ppt/notesMasters/notesMaster1.xml" Id="R15204d9846dd417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a7228cce41f4c3b" /><Relationship Type="http://schemas.openxmlformats.org/officeDocument/2006/relationships/notesMaster" Target="/ppt/notesMasters/notesMaster1.xml" Id="Rdff0ce8852094a1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3faa4ea80994b3d" /><Relationship Type="http://schemas.openxmlformats.org/officeDocument/2006/relationships/notesMaster" Target="/ppt/notesMasters/notesMaster1.xml" Id="Rd034cbb95a7a45f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9157072756c4fa2" /><Relationship Type="http://schemas.openxmlformats.org/officeDocument/2006/relationships/notesMaster" Target="/ppt/notesMasters/notesMaster1.xml" Id="R3976e0ff5af94ea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b149d5cc494415" /><Relationship Type="http://schemas.openxmlformats.org/officeDocument/2006/relationships/notesMaster" Target="/ppt/notesMasters/notesMaster1.xml" Id="R17a09852b56b460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69ed664188e44ac" /><Relationship Type="http://schemas.openxmlformats.org/officeDocument/2006/relationships/notesMaster" Target="/ppt/notesMasters/notesMaster1.xml" Id="Rb076a36f9efb4cc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9a70ab3b5414420" /><Relationship Type="http://schemas.openxmlformats.org/officeDocument/2006/relationships/notesMaster" Target="/ppt/notesMasters/notesMaster1.xml" Id="R5dec6b3ae4c14c9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b7caaad22e641b3" /><Relationship Type="http://schemas.openxmlformats.org/officeDocument/2006/relationships/notesMaster" Target="/ppt/notesMasters/notesMaster1.xml" Id="R9b9c29e03b6d48c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e107188761f4530" /><Relationship Type="http://schemas.openxmlformats.org/officeDocument/2006/relationships/notesMaster" Target="/ppt/notesMasters/notesMaster1.xml" Id="Rcb81cdbc93154cd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fcdf711f6c646f8" /><Relationship Type="http://schemas.openxmlformats.org/officeDocument/2006/relationships/notesMaster" Target="/ppt/notesMasters/notesMaster1.xml" Id="R1d22d2e7d03543c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bada1ef83ba4512" /><Relationship Type="http://schemas.openxmlformats.org/officeDocument/2006/relationships/notesMaster" Target="/ppt/notesMasters/notesMaster1.xml" Id="Rdd7ad6c1b59241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naturally: I started with the project brief, but I treated it as a fraud operations problem, not only a machine learning task.</a:t>
            </a:r>
          </a:p>
          <a:p xmlns:a="http://schemas.openxmlformats.org/drawingml/2006/main">
            <a:r>
              <a:t>My aim was to build something an analyst or investigator could actually use: score, queue, explain, and govern.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would explain that I first read the task and asked what a fraud team actually needs from it.</a:t>
            </a:r>
          </a:p>
          <a:p xmlns:a="http://schemas.openxmlformats.org/drawingml/2006/main">
            <a:r>
              <a:t>That led me to focus on queue prioritization, thresholding, and explainability.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where I show that the work was not just building a UI.</a:t>
            </a:r>
          </a:p>
          <a:p xmlns:a="http://schemas.openxmlformats.org/drawingml/2006/main">
            <a:r>
              <a:t>Explain left joins, missing flags, leakage prevention, and why alert_generated was removed from model inputs.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 that top features were selected for both predictive value and explainability.</a:t>
            </a:r>
          </a:p>
          <a:p xmlns:a="http://schemas.openxmlformats.org/drawingml/2006/main">
            <a:r>
              <a:t>The final app uses the same feature set so every score can be explained to a reviewer.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overclaim the model. Say performance is moderate because fraud is rare.</a:t>
            </a:r>
          </a:p>
          <a:p xmlns:a="http://schemas.openxmlformats.org/drawingml/2006/main">
            <a:r>
              <a:t>The key improvement is that the model became a queue-ranking and thresholding workflow, which is closer to bank operations.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answers how I came to a conclusion.</a:t>
            </a:r>
          </a:p>
          <a:p xmlns:a="http://schemas.openxmlformats.org/drawingml/2006/main">
            <a:r>
              <a:t>The conclusion was not just champion model. It was threshold plus human-review policy.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first app idea could have been Streamlit, but I moved to a deployable static app for Vercel.</a:t>
            </a:r>
          </a:p>
          <a:p xmlns:a="http://schemas.openxmlformats.org/drawingml/2006/main">
            <a:r>
              <a:t>The app is built to look like a fraud operations workbench, not just a form.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queue as a worklist, not another model chart.</a:t>
            </a:r>
          </a:p>
          <a:p xmlns:a="http://schemas.openxmlformats.org/drawingml/2006/main">
            <a:r>
              <a:t>The rule-gap number is important: it shows cases the old alert approach may not have highlighted.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if the tutor asks about geographic distance.</a:t>
            </a:r>
          </a:p>
          <a:p xmlns:a="http://schemas.openxmlformats.org/drawingml/2006/main">
            <a:r>
              <a:t>Say the app compares each transaction against reference values and explains what made the score move.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important for JPMorgan-style review.</a:t>
            </a:r>
          </a:p>
          <a:p xmlns:a="http://schemas.openxmlformats.org/drawingml/2006/main">
            <a:r>
              <a:t>Emphasize that a banking model needs controls, not only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where you tell your tutor what changed since last submission.</a:t>
            </a:r>
          </a:p>
          <a:p xmlns:a="http://schemas.openxmlformats.org/drawingml/2006/main">
            <a:r>
              <a:t>Use simple language: I cleaned the story, improved the UI, made the report export useful, and added explanation support.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Finish confidently.</a:t>
            </a:r>
          </a:p>
          <a:p xmlns:a="http://schemas.openxmlformats.org/drawingml/2006/main">
            <a:r>
              <a:t>Do not say the model is production ready. Say the prototype is complete and production would need real-data validation and governance approval.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0bc506db98481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3d5af427574464" /><Relationship Type="http://schemas.openxmlformats.org/officeDocument/2006/relationships/slideLayout" Target="/ppt/slideLayouts/slideLayout1.xml" Id="Ra982d88809ba4e3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82d88809ba4e3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477c84c44c4dcf" /><Relationship Type="http://schemas.openxmlformats.org/officeDocument/2006/relationships/notesSlide" Target="/ppt/notesSlides/notesSlide1.xml" Id="R24c3c4980d8040b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beaf1d68f84bd4" /><Relationship Type="http://schemas.openxmlformats.org/officeDocument/2006/relationships/notesSlide" Target="/ppt/notesSlides/notesSlide2.xml" Id="Rc6f07d66af4249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38bf5563e14943" /><Relationship Type="http://schemas.openxmlformats.org/officeDocument/2006/relationships/notesSlide" Target="/ppt/notesSlides/notesSlide3.xml" Id="Reee10f469e3b484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a6dfd4640f4d6f" /><Relationship Type="http://schemas.openxmlformats.org/officeDocument/2006/relationships/notesSlide" Target="/ppt/notesSlides/notesSlide4.xml" Id="Re09030c9aad3454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f530446acc4b1d" /><Relationship Type="http://schemas.openxmlformats.org/officeDocument/2006/relationships/notesSlide" Target="/ppt/notesSlides/notesSlide5.xml" Id="Re4cae55e1256417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fbc366476c49ab" /><Relationship Type="http://schemas.openxmlformats.org/officeDocument/2006/relationships/notesSlide" Target="/ppt/notesSlides/notesSlide6.xml" Id="Rf303ae16b5f74cd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ebbff518ce4300" /><Relationship Type="http://schemas.openxmlformats.org/officeDocument/2006/relationships/image" Target="/ppt/media/image.png" Id="R3d83dbc3a45945f1" /><Relationship Type="http://schemas.openxmlformats.org/officeDocument/2006/relationships/notesSlide" Target="/ppt/notesSlides/notesSlide7.xml" Id="Raa21e1b04aa343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05503078fd4763" /><Relationship Type="http://schemas.openxmlformats.org/officeDocument/2006/relationships/image" Target="/ppt/media/image2.png" Id="R8ecd9aa875544a4a" /><Relationship Type="http://schemas.openxmlformats.org/officeDocument/2006/relationships/notesSlide" Target="/ppt/notesSlides/notesSlide8.xml" Id="Rfe43512d6e774a0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a319a582314237" /><Relationship Type="http://schemas.openxmlformats.org/officeDocument/2006/relationships/notesSlide" Target="/ppt/notesSlides/notesSlide9.xml" Id="R9befd255e80c498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12ddf41dd54d5f" /><Relationship Type="http://schemas.openxmlformats.org/officeDocument/2006/relationships/image" Target="/ppt/media/image3.png" Id="Rccac33858ad94422" /><Relationship Type="http://schemas.openxmlformats.org/officeDocument/2006/relationships/notesSlide" Target="/ppt/notesSlides/notesSlide10.xml" Id="R79b010264adf4c5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13495e02424c24" /><Relationship Type="http://schemas.openxmlformats.org/officeDocument/2006/relationships/notesSlide" Target="/ppt/notesSlides/notesSlide11.xml" Id="Rb9e6002aa15c45f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215f9f6e73459f" /><Relationship Type="http://schemas.openxmlformats.org/officeDocument/2006/relationships/notesSlide" Target="/ppt/notesSlides/notesSlide12.xml" Id="Rcb3e5104943f409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041c5c70da4a0a" /><Relationship Type="http://schemas.openxmlformats.org/officeDocument/2006/relationships/notesSlide" Target="/ppt/notesSlides/notesSlide13.xml" Id="R9e9c27fece15477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1602BD-F56C-4ECD-BA9C-496638B91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BFA"/>
          </a:solidFill>
          <a:ln xmlns:a="http://schemas.openxmlformats.org/drawingml/2006/main" w="0">
            <a:solidFill>
              <a:srgbClr val="F5FBF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259C53-64C3-4191-BB4F-C48D92A3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64E49"/>
                </a:solidFill>
              </a:defRPr>
            </a:pPr>
            <a:r>
              <a:rPr sz="1200" b="1" i="0">
                <a:solidFill>
                  <a:srgbClr val="064E49"/>
                </a:solidFill>
              </a:rPr>
              <a:t>JPMORGAN-INSPIRED FRAUD ANALYTICS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4A71CB-5183-4872-997E-6BBBDE2D5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19200"/>
            <a:ext cx="6477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 i="0">
                <a:solidFill>
                  <a:srgbClr val="111827"/>
                </a:solidFill>
              </a:defRPr>
            </a:pPr>
            <a:r>
              <a:rPr sz="4350" b="1" i="0">
                <a:solidFill>
                  <a:srgbClr val="111827"/>
                </a:solidFill>
              </a:rPr>
              <a:t>Fraud Alert</a:t>
            </a:r>
          </a:p>
          <a:p xmlns:a="http://schemas.openxmlformats.org/drawingml/2006/main">
            <a:pPr algn="l">
              <a:buNone/>
              <a:defRPr sz="4350" b="1" i="0">
                <a:solidFill>
                  <a:srgbClr val="111827"/>
                </a:solidFill>
              </a:defRPr>
            </a:pPr>
            <a:r>
              <a:rPr sz="4350" b="1" i="0">
                <a:solidFill>
                  <a:srgbClr val="111827"/>
                </a:solidFill>
              </a:rPr>
              <a:t>Control Tower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E89D65-F394-4EC4-8C87-CABE0DFA3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2895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F6F6C"/>
                </a:solidFill>
              </a:defRPr>
            </a:pPr>
            <a:r>
              <a:rPr sz="1650" b="0" i="0">
                <a:solidFill>
                  <a:srgbClr val="5F6F6C"/>
                </a:solidFill>
              </a:rPr>
              <a:t>Project journey from raw synthetic data to explainable alert prioritization, investigator workflow, threshold controls, and governance.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AE4391-9369-4EA0-88AA-36105877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200150"/>
            <a:ext cx="17145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140CE7-010A-47B9-B78D-F7372226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B73"/>
          </a:solidFill>
          <a:ln xmlns:a="http://schemas.openxmlformats.org/drawingml/2006/main" w="0">
            <a:solidFill>
              <a:srgbClr val="087B7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CAE126-8AE6-4F67-AAF0-CDCA7298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3906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F6F6C"/>
                </a:solidFill>
              </a:defRPr>
            </a:pPr>
            <a:r>
              <a:rPr sz="975" b="1" i="0">
                <a:solidFill>
                  <a:srgbClr val="5F6F6C"/>
                </a:solidFill>
              </a:rPr>
              <a:t>TRANSACTIONS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B83DE2-01D4-4FF9-9708-423D86AC8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695450"/>
            <a:ext cx="1371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</a:defRPr>
            </a:pPr>
            <a:r>
              <a:rPr sz="2550" b="1" i="0">
                <a:solidFill>
                  <a:srgbClr val="111827"/>
                </a:solidFill>
              </a:rPr>
              <a:t>5,000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DBDABD-8F26-4286-9AC8-599FA9956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200150"/>
            <a:ext cx="17145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408F37-F902-4727-BB9A-930EF041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8B21"/>
          </a:solidFill>
          <a:ln xmlns:a="http://schemas.openxmlformats.org/drawingml/2006/main" w="0">
            <a:solidFill>
              <a:srgbClr val="C58B2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0741C2-E045-4474-9FB6-0AD44358D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3906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F6F6C"/>
                </a:solidFill>
              </a:defRPr>
            </a:pPr>
            <a:r>
              <a:rPr sz="975" b="1" i="0">
                <a:solidFill>
                  <a:srgbClr val="5F6F6C"/>
                </a:solidFill>
              </a:rPr>
              <a:t>FRAUD RATE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FCFEA3-CFAD-49EF-82D4-2DF3F2152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695450"/>
            <a:ext cx="1371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</a:defRPr>
            </a:pPr>
            <a:r>
              <a:rPr sz="2550" b="1" i="0">
                <a:solidFill>
                  <a:srgbClr val="111827"/>
                </a:solidFill>
              </a:rPr>
              <a:t>4.02%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989A9A-1D98-47AA-8F02-E1014479E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76500"/>
            <a:ext cx="17145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F882C4-41D3-4BF2-B44E-F59B2C2B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765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4E49"/>
          </a:solidFill>
          <a:ln xmlns:a="http://schemas.openxmlformats.org/drawingml/2006/main" w="0">
            <a:solidFill>
              <a:srgbClr val="064E4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D972C1-A706-4668-B861-A613C1992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670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F6F6C"/>
                </a:solidFill>
              </a:defRPr>
            </a:pPr>
            <a:r>
              <a:rPr sz="975" b="1" i="0">
                <a:solidFill>
                  <a:srgbClr val="5F6F6C"/>
                </a:solidFill>
              </a:rPr>
              <a:t>REVIEW QUEUE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6F7CE9-6233-4B73-8295-DCB33E9C2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971800"/>
            <a:ext cx="1371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</a:defRPr>
            </a:pPr>
            <a:r>
              <a:rPr sz="2550" b="1" i="0">
                <a:solidFill>
                  <a:srgbClr val="111827"/>
                </a:solidFill>
              </a:rPr>
              <a:t>74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0104C6-60D1-4FBB-8490-956D2E18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76500"/>
            <a:ext cx="17145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439A84-9CCC-450E-8DDD-F5B21AE9B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765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044"/>
          </a:solidFill>
          <a:ln xmlns:a="http://schemas.openxmlformats.org/drawingml/2006/main" w="0">
            <a:solidFill>
              <a:srgbClr val="16704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1B3B5F-B717-476E-B532-32AAEAAE3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670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F6F6C"/>
                </a:solidFill>
              </a:defRPr>
            </a:pPr>
            <a:r>
              <a:rPr sz="975" b="1" i="0">
                <a:solidFill>
                  <a:srgbClr val="5F6F6C"/>
                </a:solidFill>
              </a:rPr>
              <a:t>FRAUD CAPTURE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63157F-23C2-450A-BD75-12DCE762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971800"/>
            <a:ext cx="1371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</a:defRPr>
            </a:pPr>
            <a:r>
              <a:rPr sz="2550" b="1" i="0">
                <a:solidFill>
                  <a:srgbClr val="111827"/>
                </a:solidFill>
              </a:rPr>
              <a:t>25.0%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CF496B-BD7C-4FE2-B1F5-BF93BAEC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14850"/>
            <a:ext cx="102870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32C001-3724-4130-8BEA-2F0CBE02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625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87B73"/>
                </a:solidFill>
              </a:defRPr>
            </a:pPr>
            <a:r>
              <a:rPr sz="1350" b="1" i="0">
                <a:solidFill>
                  <a:srgbClr val="087B73"/>
                </a:solidFill>
              </a:rPr>
              <a:t>Final thesis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084F05-7BDC-4F26-9C7A-9329DF0E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67300"/>
            <a:ext cx="962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</a:defRPr>
            </a:pPr>
            <a:r>
              <a:rPr sz="1500" b="0" i="0">
                <a:solidFill>
                  <a:srgbClr val="111827"/>
                </a:solidFill>
              </a:rPr>
              <a:t>The project is not just a fraud classifier. It is a decision-support workflow that ranks alerts, explains risk, and links thresholds to investigator capacity.</a:t>
            </a:r>
          </a:p>
        </p:txBody>
      </p:sp>
    </p:spTree>
    <p:extLst>
      <p:ext uri="{BB962C8B-B14F-4D97-AF65-F5344CB8AC3E}">
        <p14:creationId xmlns:p14="http://schemas.microsoft.com/office/powerpoint/2010/main" val="2992834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51199B-1CDC-483E-B82A-2304F87D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87B73"/>
                </a:solidFill>
              </a:defRPr>
            </a:pPr>
            <a:r>
              <a:rPr sz="1200" b="1" i="0">
                <a:solidFill>
                  <a:srgbClr val="087B73"/>
                </a:solidFill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2DDCF0-553C-4383-AD42-E79BF026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3850"/>
            <a:ext cx="828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827"/>
                </a:solidFill>
              </a:defRPr>
            </a:pPr>
            <a:r>
              <a:rPr sz="2850" b="1" i="0">
                <a:solidFill>
                  <a:srgbClr val="111827"/>
                </a:solidFill>
              </a:rPr>
              <a:t>Where The Project Started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3390B7-3105-4266-BFC4-D096BA74C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3820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F6F6C"/>
                </a:solidFill>
              </a:defRPr>
            </a:pPr>
            <a:r>
              <a:rPr sz="1275" b="0" i="0">
                <a:solidFill>
                  <a:srgbClr val="5F6F6C"/>
                </a:solidFill>
              </a:rPr>
              <a:t>The brief was about explainable fraud alert prioritization, so I reframed it as a review-capacity problem.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7A1333-DF57-4809-97F9-61F10F445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EE"/>
          </a:solidFill>
          <a:ln xmlns:a="http://schemas.openxmlformats.org/drawingml/2006/main" w="0">
            <a:solidFill>
              <a:srgbClr val="E7F0E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FC85AD-BC28-4E69-B8EE-5D53E8D20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90700"/>
            <a:ext cx="3143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4236FF-09F4-4EF2-88D3-ED17513A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B73"/>
          </a:solidFill>
          <a:ln xmlns:a="http://schemas.openxmlformats.org/drawingml/2006/main" w="0">
            <a:solidFill>
              <a:srgbClr val="087B7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E1631F-C285-4DBB-8DF9-A46EB0DF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193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2A4370-27B4-4B76-A59E-7E0BE662B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9812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11827"/>
                </a:solidFill>
              </a:defRPr>
            </a:pPr>
            <a:r>
              <a:rPr sz="1425" b="1" i="0">
                <a:solidFill>
                  <a:srgbClr val="111827"/>
                </a:solidFill>
              </a:rPr>
              <a:t>Project brief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2D376E-90F9-4180-961B-7F3775D0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286000"/>
            <a:ext cx="2266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F6F6C"/>
                </a:solidFill>
              </a:defRPr>
            </a:pPr>
            <a:r>
              <a:rPr sz="1125" b="0" i="0">
                <a:solidFill>
                  <a:srgbClr val="5F6F6C"/>
                </a:solidFill>
              </a:rPr>
              <a:t>Build a fraud alert prioritization solution using transaction, customer, and merchant data.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BFA97F-5473-440A-B2E4-E1CA9BBD5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790700"/>
            <a:ext cx="3143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331B36-21E3-455D-A6DC-1BA40E6A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9621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58B21"/>
          </a:solidFill>
          <a:ln xmlns:a="http://schemas.openxmlformats.org/drawingml/2006/main" w="0">
            <a:solidFill>
              <a:srgbClr val="C58B2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9461DC-9B34-4A36-B3BE-636FA0CA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193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F86A14-4527-4179-8E89-9DF6420A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9812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11827"/>
                </a:solidFill>
              </a:defRPr>
            </a:pPr>
            <a:r>
              <a:rPr sz="1425" b="1" i="0">
                <a:solidFill>
                  <a:srgbClr val="111827"/>
                </a:solidFill>
              </a:rPr>
              <a:t>Business question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F43D4F-3006-41BF-A9EE-E31124D29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286000"/>
            <a:ext cx="2266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F6F6C"/>
                </a:solidFill>
              </a:defRPr>
            </a:pPr>
            <a:r>
              <a:rPr sz="1125" b="0" i="0">
                <a:solidFill>
                  <a:srgbClr val="5F6F6C"/>
                </a:solidFill>
              </a:rPr>
              <a:t>Which cases should investigators review first when the team cannot check every transaction?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DA31E3-F96B-4556-8377-364AAC878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790700"/>
            <a:ext cx="3143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2329BE-2D89-440B-8436-C248FF0A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9621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044"/>
          </a:solidFill>
          <a:ln xmlns:a="http://schemas.openxmlformats.org/drawingml/2006/main" w="0">
            <a:solidFill>
              <a:srgbClr val="16704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2C332B-A193-4450-9639-201658EC4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193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34A645-6CE5-427E-BBC7-28CA1EE07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812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11827"/>
                </a:solidFill>
              </a:defRPr>
            </a:pPr>
            <a:r>
              <a:rPr sz="1425" b="1" i="0">
                <a:solidFill>
                  <a:srgbClr val="111827"/>
                </a:solidFill>
              </a:rPr>
              <a:t>My success criteria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9F285A-8875-46E6-B4CE-B8DBB1E3B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286000"/>
            <a:ext cx="2266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F6F6C"/>
                </a:solidFill>
              </a:defRPr>
            </a:pPr>
            <a:r>
              <a:rPr sz="1125" b="0" i="0">
                <a:solidFill>
                  <a:srgbClr val="5F6F6C"/>
                </a:solidFill>
              </a:rPr>
              <a:t>Prediction plus explanation, queue usefulness, threshold discipline, and governance evidence.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235DDF-D1F3-4C31-A9E4-911671CC0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62350"/>
            <a:ext cx="447675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C2E937-26E4-4F22-8D10-C5EBBB8C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8290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</a:defRPr>
            </a:pPr>
            <a:r>
              <a:rPr sz="1650" b="1" i="0">
                <a:solidFill>
                  <a:srgbClr val="111827"/>
                </a:solidFill>
              </a:rPr>
              <a:t>Why a normal classifier was not enough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6853ED-1AA5-4F16-B143-89B38B7CF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672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87B73"/>
                </a:solidFill>
              </a:defRPr>
            </a:pPr>
            <a:r>
              <a:rPr sz="1275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7CBE9B-E7B8-4B8B-BE36-A39802DAE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267200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Fraud is rare, so accuracy can be misleading.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977DA2-6E43-4902-A61D-8C475041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6725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87B73"/>
                </a:solidFill>
              </a:defRPr>
            </a:pPr>
            <a:r>
              <a:rPr sz="1275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0D9CA1-98D3-4BEF-8B83-755C68B1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667250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A bank needs workload and false-positive visibility.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B750CA-5360-4FAC-BD6C-8199B0D88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673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87B73"/>
                </a:solidFill>
              </a:defRPr>
            </a:pPr>
            <a:r>
              <a:rPr sz="1275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60A2B1-1078-4AD0-9BD3-2F6CAE195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067300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Reviewers need clear reasons before taking action.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23ACFA-C059-4B61-90E3-5D94D0783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62350"/>
            <a:ext cx="447675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DFF3E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FB4F78-2267-4126-987F-D667F799B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290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64E49"/>
                </a:solidFill>
              </a:defRPr>
            </a:pPr>
            <a:r>
              <a:rPr sz="1650" b="1" i="0">
                <a:solidFill>
                  <a:srgbClr val="064E49"/>
                </a:solidFill>
              </a:rPr>
              <a:t>Conclusion from the brief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FBFA42-F3A4-494F-92F1-93CBA5E8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305300"/>
            <a:ext cx="3905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11827"/>
                </a:solidFill>
              </a:defRPr>
            </a:pPr>
            <a:r>
              <a:rPr sz="1425" b="0" i="0">
                <a:solidFill>
                  <a:srgbClr val="111827"/>
                </a:solidFill>
              </a:rPr>
              <a:t>The useful output is not only fraud vs legitimate. The useful output is a prioritized queue with reasons and operating controls.</a:t>
            </a:r>
          </a:p>
        </p:txBody>
      </p:sp>
    </p:spTree>
    <p:extLst>
      <p:ext uri="{BB962C8B-B14F-4D97-AF65-F5344CB8AC3E}">
        <p14:creationId xmlns:p14="http://schemas.microsoft.com/office/powerpoint/2010/main" val="84081047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14EEDD-83AB-415A-A746-3AC4CF01C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87B73"/>
                </a:solidFill>
              </a:defRPr>
            </a:pPr>
            <a:r>
              <a:rPr sz="1200" b="1" i="0">
                <a:solidFill>
                  <a:srgbClr val="087B73"/>
                </a:solidFill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950B20-3EBB-4E9E-AE2C-7087EF59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3850"/>
            <a:ext cx="828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827"/>
                </a:solidFill>
              </a:defRPr>
            </a:pPr>
            <a:r>
              <a:rPr sz="2850" b="1" i="0">
                <a:solidFill>
                  <a:srgbClr val="111827"/>
                </a:solidFill>
              </a:rPr>
              <a:t>Data Foundation And Cleaning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FA6BCC-2BB0-4A7A-A3FC-A209AC09B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3820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F6F6C"/>
                </a:solidFill>
              </a:defRPr>
            </a:pPr>
            <a:r>
              <a:rPr sz="1275" b="0" i="0">
                <a:solidFill>
                  <a:srgbClr val="5F6F6C"/>
                </a:solidFill>
              </a:rPr>
              <a:t>The pipeline kept one row per transaction, joined profiles, and protected the model from leakage.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6EF2E0-56E5-42C1-8D6F-36F8F0A9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EE"/>
          </a:solidFill>
          <a:ln xmlns:a="http://schemas.openxmlformats.org/drawingml/2006/main" w="0">
            <a:solidFill>
              <a:srgbClr val="E7F0E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66B373-6850-4476-9764-ADB664884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143250" cy="342900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FDCB75-2342-4368-9242-69D0929F3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8859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11827"/>
                </a:solidFill>
              </a:defRPr>
            </a:pPr>
            <a:r>
              <a:rPr sz="1800" b="1" i="0">
                <a:solidFill>
                  <a:srgbClr val="111827"/>
                </a:solidFill>
              </a:rPr>
              <a:t>Raw inputs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86233D-1DC9-405A-9062-DF69529B6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87B73"/>
                </a:solidFill>
              </a:defRPr>
            </a:pPr>
            <a:r>
              <a:rPr sz="120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EAA552-E0CD-435A-94F1-80AE64709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0030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</a:defRPr>
            </a:pPr>
            <a:r>
              <a:rPr sz="1200" b="0" i="0">
                <a:solidFill>
                  <a:srgbClr val="111827"/>
                </a:solidFill>
              </a:rPr>
              <a:t>Transactions: amount, time, channel, country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4776C3-ACA6-4459-958E-E93C5174E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87B73"/>
                </a:solidFill>
              </a:defRPr>
            </a:pPr>
            <a:r>
              <a:rPr sz="120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0B4DC7-5AEB-43BB-93C4-8B8AF08D4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00990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</a:defRPr>
            </a:pPr>
            <a:r>
              <a:rPr sz="1200" b="0" i="0">
                <a:solidFill>
                  <a:srgbClr val="111827"/>
                </a:solidFill>
              </a:rPr>
              <a:t>Customers: KYC risk, home country, identity score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849DFD-4F36-4FAF-837B-348CAB7B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195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87B73"/>
                </a:solidFill>
              </a:defRPr>
            </a:pPr>
            <a:r>
              <a:rPr sz="120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506ECD-AB46-4257-BDDC-6298E869D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1950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</a:defRPr>
            </a:pPr>
            <a:r>
              <a:rPr sz="1200" b="0" i="0">
                <a:solidFill>
                  <a:srgbClr val="111827"/>
                </a:solidFill>
              </a:rPr>
              <a:t>Merchants: category and merchant risk score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CEC93C-8F24-45E6-BB70-4053DEED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619250"/>
            <a:ext cx="3143250" cy="342900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6DEFEB-9002-4BED-AFF8-5DF156428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8859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11827"/>
                </a:solidFill>
              </a:defRPr>
            </a:pPr>
            <a:r>
              <a:rPr sz="1800" b="1" i="0">
                <a:solidFill>
                  <a:srgbClr val="111827"/>
                </a:solidFill>
              </a:rPr>
              <a:t>Cleaning controls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DF8EBE-2A7B-48E2-A2A8-E50CD1F6D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4003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87B73"/>
                </a:solidFill>
              </a:defRPr>
            </a:pPr>
            <a:r>
              <a:rPr sz="120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B70854-3987-460C-95C0-237C4FBFC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400300"/>
            <a:ext cx="2228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</a:defRPr>
            </a:pPr>
            <a:r>
              <a:rPr sz="1200" b="0" i="0">
                <a:solidFill>
                  <a:srgbClr val="111827"/>
                </a:solidFill>
              </a:rPr>
              <a:t>Parsed timestamps into time features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4CD186-0715-4597-9E56-E5475DFD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83845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87B73"/>
                </a:solidFill>
              </a:defRPr>
            </a:pPr>
            <a:r>
              <a:rPr sz="120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80291B-7044-4EEC-8C5F-02ADF20A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838450"/>
            <a:ext cx="2228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</a:defRPr>
            </a:pPr>
            <a:r>
              <a:rPr sz="1200" b="0" i="0">
                <a:solidFill>
                  <a:srgbClr val="111827"/>
                </a:solidFill>
              </a:rPr>
              <a:t>Normalized country labels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4E0219-A69E-4B05-BF8C-B1F4F9F0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2766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87B73"/>
                </a:solidFill>
              </a:defRPr>
            </a:pPr>
            <a:r>
              <a:rPr sz="120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C498E0-E0E5-43C2-A36F-3541DB242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76600"/>
            <a:ext cx="2228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</a:defRPr>
            </a:pPr>
            <a:r>
              <a:rPr sz="1200" b="0" i="0">
                <a:solidFill>
                  <a:srgbClr val="111827"/>
                </a:solidFill>
              </a:rPr>
              <a:t>Left joined customer and merchant data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9E8DDF-67BB-43E3-8519-C4B9553E0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71475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87B73"/>
                </a:solidFill>
              </a:defRPr>
            </a:pPr>
            <a:r>
              <a:rPr sz="120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8EF3E8-7D5C-4A75-BF1C-F8D339B33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14750"/>
            <a:ext cx="2228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</a:defRPr>
            </a:pPr>
            <a:r>
              <a:rPr sz="1200" b="0" i="0">
                <a:solidFill>
                  <a:srgbClr val="111827"/>
                </a:solidFill>
              </a:rPr>
              <a:t>Created missing-profile flags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E7AC7B-BA75-46AA-AB16-E276B09D4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529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87B73"/>
                </a:solidFill>
              </a:defRPr>
            </a:pPr>
            <a:r>
              <a:rPr sz="120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F79B8C-3EF5-4AF7-8809-082D74EF7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152900"/>
            <a:ext cx="2228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</a:defRPr>
            </a:pPr>
            <a:r>
              <a:rPr sz="1200" b="0" i="0">
                <a:solidFill>
                  <a:srgbClr val="111827"/>
                </a:solidFill>
              </a:rPr>
              <a:t>Flagged broken tenure values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1086BC-A20B-46CD-9D40-CEA39E75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619250"/>
            <a:ext cx="3143250" cy="342900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709907-4138-4850-88DF-1A5E17B9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885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11827"/>
                </a:solidFill>
              </a:defRPr>
            </a:pPr>
            <a:r>
              <a:rPr sz="1800" b="1" i="0">
                <a:solidFill>
                  <a:srgbClr val="111827"/>
                </a:solidFill>
              </a:rPr>
              <a:t>Leakage prevention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1F6587-6FB1-426A-A7DE-7B7430183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4003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87B73"/>
                </a:solidFill>
              </a:defRPr>
            </a:pPr>
            <a:r>
              <a:rPr sz="120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74CF31-F49D-43CA-B4CE-A3CA6F356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40030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</a:defRPr>
            </a:pPr>
            <a:r>
              <a:rPr sz="1200" b="0" i="0">
                <a:solidFill>
                  <a:srgbClr val="111827"/>
                </a:solidFill>
              </a:rPr>
              <a:t>Removed IDs from predictive features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3E9D9B-3DCD-4FFE-9E76-0DAFD41ED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91465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87B73"/>
                </a:solidFill>
              </a:defRPr>
            </a:pPr>
            <a:r>
              <a:rPr sz="120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52A950-D66F-45D5-A294-1246C781F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9146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</a:defRPr>
            </a:pPr>
            <a:r>
              <a:rPr sz="1200" b="0" i="0">
                <a:solidFill>
                  <a:srgbClr val="111827"/>
                </a:solidFill>
              </a:rPr>
              <a:t>Removed target field fraud_label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CF86A7-AE73-44CE-AC6C-9D3CBF49E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4290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87B73"/>
                </a:solidFill>
              </a:defRPr>
            </a:pPr>
            <a:r>
              <a:rPr sz="120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9C7F8B-45E8-466B-BEDD-92823326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42900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</a:defRPr>
            </a:pPr>
            <a:r>
              <a:rPr sz="1200" b="0" i="0">
                <a:solidFill>
                  <a:srgbClr val="111827"/>
                </a:solidFill>
              </a:rPr>
              <a:t>Excluded old alert outcome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FB5FEEB-4E3E-4082-AB86-DB349EBCB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94335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87B73"/>
                </a:solidFill>
              </a:defRPr>
            </a:pPr>
            <a:r>
              <a:rPr sz="120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DD5972-709A-4E5C-9BCF-E996CA0C4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943350"/>
            <a:ext cx="2228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</a:defRPr>
            </a:pPr>
            <a:r>
              <a:rPr sz="1200" b="0" i="0">
                <a:solidFill>
                  <a:srgbClr val="111827"/>
                </a:solidFill>
              </a:rPr>
              <a:t>Selected features on training data only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ED06B8A-8281-4640-9D2E-E1ABD2A3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67350"/>
            <a:ext cx="933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64E49"/>
          </a:solidFill>
          <a:ln xmlns:a="http://schemas.openxmlformats.org/drawingml/2006/main" w="9525">
            <a:solidFill>
              <a:srgbClr val="064E4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701F076-6042-46DA-A25A-A9C3E0D5B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600700"/>
            <a:ext cx="885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Talking point: I did not start by training. I first made the data trustworthy enough to model.</a:t>
            </a:r>
          </a:p>
        </p:txBody>
      </p:sp>
    </p:spTree>
    <p:extLst>
      <p:ext uri="{BB962C8B-B14F-4D97-AF65-F5344CB8AC3E}">
        <p14:creationId xmlns:p14="http://schemas.microsoft.com/office/powerpoint/2010/main" val="3496300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18A96F-2938-4C49-9BB9-29A87A9C8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87B73"/>
                </a:solidFill>
              </a:defRPr>
            </a:pPr>
            <a:r>
              <a:rPr sz="1200" b="1" i="0">
                <a:solidFill>
                  <a:srgbClr val="087B73"/>
                </a:solidFill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76B75D-7809-48C1-A0AF-475869C49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3850"/>
            <a:ext cx="828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827"/>
                </a:solidFill>
              </a:defRPr>
            </a:pPr>
            <a:r>
              <a:rPr sz="2850" b="1" i="0">
                <a:solidFill>
                  <a:srgbClr val="111827"/>
                </a:solidFill>
              </a:rPr>
              <a:t>Feature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96E0E1-53E2-4D3C-9864-FE7A53CD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3820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F6F6C"/>
                </a:solidFill>
              </a:defRPr>
            </a:pPr>
            <a:r>
              <a:rPr sz="1275" b="0" i="0">
                <a:solidFill>
                  <a:srgbClr val="5F6F6C"/>
                </a:solidFill>
              </a:rPr>
              <a:t>I limited the model to the top 10 explainable features so the app stayed usable and defensible.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212022-D344-47F7-B5C7-0478FFEF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EE"/>
          </a:solidFill>
          <a:ln xmlns:a="http://schemas.openxmlformats.org/drawingml/2006/main" w="0">
            <a:solidFill>
              <a:srgbClr val="E7F0E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DFFBAB-E459-43EB-B0D7-8885A07E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81150"/>
            <a:ext cx="4953000" cy="361950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10BF3F-B102-4E0D-8F08-E0E28893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47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</a:defRPr>
            </a:pPr>
            <a:r>
              <a:rPr sz="1875" b="1" i="0">
                <a:solidFill>
                  <a:srgbClr val="111827"/>
                </a:solidFill>
              </a:rPr>
              <a:t>Top feature set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46BAEB-B604-4AA7-9382-FD13E186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3812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1. Geographic distance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F8F11D-892A-4B71-B301-4C553E1C2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003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2. Transaction country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76F02C-AE5A-438E-8580-AD91F1A3C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194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3. Synthetic identity score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AA3C3B-5B46-4326-8DC5-6683255B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385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4. Merchant risk score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91E0AB-46C3-4163-87D6-242BFD016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576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5. Payment channel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8CCA43-F05A-4049-B015-258B32BB1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3812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6. Transaction hour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745220-BF4F-454E-827C-486CEF588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8003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7. Device risk score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9CCFD6-BE78-427F-9979-325340095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194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8. Merchant profile risk score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B07955-401B-4293-A23D-E3F99AD14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6385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9. Transaction amount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AA1E84-4258-45AC-8B33-C32F12404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0576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10. Log-scaled amount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6439BA-6CB5-497C-8862-6FD1C4C94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81150"/>
            <a:ext cx="4953000" cy="1543050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DFF3E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45D098-CEBF-46F7-89AB-F7DBCEDDA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478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64E49"/>
                </a:solidFill>
              </a:defRPr>
            </a:pPr>
            <a:r>
              <a:rPr sz="1875" b="1" i="0">
                <a:solidFill>
                  <a:srgbClr val="064E49"/>
                </a:solidFill>
              </a:rPr>
              <a:t>How features were selected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5C948D-2EAD-4A9A-AB5E-56BB5FB3C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2410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11827"/>
                </a:solidFill>
              </a:defRPr>
            </a:pPr>
            <a:r>
              <a:rPr sz="1425" b="0" i="0">
                <a:solidFill>
                  <a:srgbClr val="111827"/>
                </a:solidFill>
              </a:rPr>
              <a:t>I used training-only mutual information to rank candidate predictors. That avoids choosing features using future validation or test information.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DA75B5-41AF-46E1-B874-D5FDD841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67100"/>
            <a:ext cx="495300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2D4DE7-5762-4BCC-B305-8566BB74B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338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</a:defRPr>
            </a:pPr>
            <a:r>
              <a:rPr sz="1875" b="1" i="0">
                <a:solidFill>
                  <a:srgbClr val="111827"/>
                </a:solidFill>
              </a:rPr>
              <a:t>Why these features make sense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9CA5E6-A8CD-4E26-B0A9-BE81A090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2291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87B73"/>
                </a:solidFill>
              </a:defRPr>
            </a:pPr>
            <a:r>
              <a:rPr sz="1275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CE4D38-086C-4DA8-BCE1-1DAF76BAF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291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Geo distance and country capture unusual transaction location patterns.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7AE687-152F-48BD-8A1E-AA7BB8146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55295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87B73"/>
                </a:solidFill>
              </a:defRPr>
            </a:pPr>
            <a:r>
              <a:rPr sz="1275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39D6D5-6AE3-4CBF-A885-12C0682A6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5529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Device, synthetic identity, and merchant signals reflect fraud risk.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E1B960-866C-4F1B-8C2F-3D069DA71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8768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87B73"/>
                </a:solidFill>
              </a:defRPr>
            </a:pPr>
            <a:r>
              <a:rPr sz="1275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7A4DC2-7518-483F-9ABE-FEBC10D73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8768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Amount, channel, and hour add transaction-context behavior.</a:t>
            </a:r>
          </a:p>
        </p:txBody>
      </p:sp>
    </p:spTree>
    <p:extLst>
      <p:ext uri="{BB962C8B-B14F-4D97-AF65-F5344CB8AC3E}">
        <p14:creationId xmlns:p14="http://schemas.microsoft.com/office/powerpoint/2010/main" val="8495455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42E90F-49E6-44D5-87CD-185282094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87B73"/>
                </a:solidFill>
              </a:defRPr>
            </a:pPr>
            <a:r>
              <a:rPr sz="1200" b="1" i="0">
                <a:solidFill>
                  <a:srgbClr val="087B73"/>
                </a:solidFill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EBB10A-629C-4EE8-AF60-0A6A994E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3850"/>
            <a:ext cx="828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827"/>
                </a:solidFill>
              </a:defRPr>
            </a:pPr>
            <a:r>
              <a:rPr sz="2850" b="1" i="0">
                <a:solidFill>
                  <a:srgbClr val="111827"/>
                </a:solidFill>
              </a:rPr>
              <a:t>Modeling Journey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102E92-3DE2-4A23-A996-6FE3460F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3820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F6F6C"/>
                </a:solidFill>
              </a:defRPr>
            </a:pPr>
            <a:r>
              <a:rPr sz="1275" b="0" i="0">
                <a:solidFill>
                  <a:srgbClr val="5F6F6C"/>
                </a:solidFill>
              </a:rPr>
              <a:t>I moved from a baseline classifier to an operating policy that could support an investigator queue.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8D4AF8-D1F2-4D08-8EB2-DD4A17D6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EE"/>
          </a:solidFill>
          <a:ln xmlns:a="http://schemas.openxmlformats.org/drawingml/2006/main" w="0">
            <a:solidFill>
              <a:srgbClr val="E7F0E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250F6D-34FC-469E-AE88-644711129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76400"/>
            <a:ext cx="3143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A6EF76-79C5-4F9B-8E26-FA7218433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8478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B73"/>
          </a:solidFill>
          <a:ln xmlns:a="http://schemas.openxmlformats.org/drawingml/2006/main" w="0">
            <a:solidFill>
              <a:srgbClr val="087B7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9DC777-A013-459F-90F5-C35CC6AB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050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17E0FE-8BA5-4414-A880-90F3B05E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8669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11827"/>
                </a:solidFill>
              </a:defRPr>
            </a:pPr>
            <a:r>
              <a:rPr sz="1425" b="1" i="0">
                <a:solidFill>
                  <a:srgbClr val="111827"/>
                </a:solidFill>
              </a:rPr>
              <a:t>Baseline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6BDDB5-A1A6-49F3-B5DF-19C6D31FF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71700"/>
            <a:ext cx="2266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F6F6C"/>
                </a:solidFill>
              </a:defRPr>
            </a:pPr>
            <a:r>
              <a:rPr sz="1125" b="0" i="0">
                <a:solidFill>
                  <a:srgbClr val="5F6F6C"/>
                </a:solidFill>
              </a:rPr>
              <a:t>Logistic regression with imputation, scaling, one-hot encoding, and class weighting.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3FEB92-AD28-42A1-9FD9-F86BFD666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676400"/>
            <a:ext cx="3143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F32DCC-C807-4965-8ADB-C5CA87439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8478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58B21"/>
          </a:solidFill>
          <a:ln xmlns:a="http://schemas.openxmlformats.org/drawingml/2006/main" w="0">
            <a:solidFill>
              <a:srgbClr val="C58B2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3DAF10-F44E-4F99-894E-ABA1F27E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9050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2C7F03-DBB8-4096-BBE1-1756212E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8669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11827"/>
                </a:solidFill>
              </a:defRPr>
            </a:pPr>
            <a:r>
              <a:rPr sz="1425" b="1" i="0">
                <a:solidFill>
                  <a:srgbClr val="111827"/>
                </a:solidFill>
              </a:rPr>
              <a:t>Model comparison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34643B-49A3-44B7-A94A-9EEA9FC4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171700"/>
            <a:ext cx="2266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F6F6C"/>
                </a:solidFill>
              </a:defRPr>
            </a:pPr>
            <a:r>
              <a:rPr sz="1125" b="0" i="0">
                <a:solidFill>
                  <a:srgbClr val="5F6F6C"/>
                </a:solidFill>
              </a:rPr>
              <a:t>Compared weighted tree and ensemble candidates using PR-AUC, recall, precision, and review load.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0291ED-FEB3-4D16-9623-320E87454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76400"/>
            <a:ext cx="3143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D14B4B-1642-4EF0-BF8C-D45E3F48A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478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044"/>
          </a:solidFill>
          <a:ln xmlns:a="http://schemas.openxmlformats.org/drawingml/2006/main" w="0">
            <a:solidFill>
              <a:srgbClr val="16704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6BFAE5-6123-4BF6-8E7B-3B820D1B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9050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DBE3E1-725A-4A98-B9CA-58A9E2A6C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669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11827"/>
                </a:solidFill>
              </a:defRPr>
            </a:pPr>
            <a:r>
              <a:rPr sz="1425" b="1" i="0">
                <a:solidFill>
                  <a:srgbClr val="111827"/>
                </a:solidFill>
              </a:rPr>
              <a:t>Risk triage layer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D0751F-9C66-4A7E-9F66-142DDF12D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71700"/>
            <a:ext cx="2266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F6F6C"/>
                </a:solidFill>
              </a:defRPr>
            </a:pPr>
            <a:r>
              <a:rPr sz="1125" b="0" i="0">
                <a:solidFill>
                  <a:srgbClr val="5F6F6C"/>
                </a:solidFill>
              </a:rPr>
              <a:t>Renamed reviewer-facing evidence around a risk-ranking engine instead of a model leaderboard.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D50A94-EE79-4CBC-8D70-88273FE1B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38550"/>
            <a:ext cx="102870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C30B6A-B314-4A0E-9B19-B86992DDC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05250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</a:defRPr>
            </a:pPr>
            <a:r>
              <a:rPr sz="1875" b="1" i="0">
                <a:solidFill>
                  <a:srgbClr val="111827"/>
                </a:solidFill>
              </a:rPr>
              <a:t>What I learned from model comparison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13E7CE-07F8-4929-8FC1-6FE18E1B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4340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11827"/>
                </a:solidFill>
              </a:defRPr>
            </a:pPr>
            <a:r>
              <a:rPr sz="1425" b="0" i="0">
                <a:solidFill>
                  <a:srgbClr val="111827"/>
                </a:solidFill>
              </a:rPr>
              <a:t>The highest technical score was not the whole answer. Fraud operations need a useful queue: how many cases are reviewed, how many frauds are caught, and how many false positives investigators must handle.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95CFE7-4652-4EF0-A694-FEDE2297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314950"/>
            <a:ext cx="1905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C53B0F-E8B7-4BB6-A833-6C29E29E1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314950"/>
            <a:ext cx="1905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B73"/>
          </a:solidFill>
          <a:ln xmlns:a="http://schemas.openxmlformats.org/drawingml/2006/main" w="0">
            <a:solidFill>
              <a:srgbClr val="087B7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2027E5-A4A7-4AEF-93FC-57CD2296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505450"/>
            <a:ext cx="1562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F6F6C"/>
                </a:solidFill>
              </a:defRPr>
            </a:pPr>
            <a:r>
              <a:rPr sz="975" b="1" i="0">
                <a:solidFill>
                  <a:srgbClr val="5F6F6C"/>
                </a:solidFill>
              </a:rPr>
              <a:t>RANKING QUALITY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7BA66C-450E-4769-9A9A-B54EE31DA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810250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</a:defRPr>
            </a:pPr>
            <a:r>
              <a:rPr sz="2550" b="1" i="0">
                <a:solidFill>
                  <a:srgbClr val="111827"/>
                </a:solidFill>
              </a:rPr>
              <a:t>0.141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2DA880-6683-4741-820F-2B549ABF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314950"/>
            <a:ext cx="2095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EB9CAF-237C-402C-A26D-435899010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314950"/>
            <a:ext cx="2095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8B21"/>
          </a:solidFill>
          <a:ln xmlns:a="http://schemas.openxmlformats.org/drawingml/2006/main" w="0">
            <a:solidFill>
              <a:srgbClr val="C58B2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04286C0-2EFB-41B0-AD33-4F6C3ADB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505450"/>
            <a:ext cx="1752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F6F6C"/>
                </a:solidFill>
              </a:defRPr>
            </a:pPr>
            <a:r>
              <a:rPr sz="975" b="1" i="0">
                <a:solidFill>
                  <a:srgbClr val="5F6F6C"/>
                </a:solidFill>
              </a:rPr>
              <a:t>HELD-OUT REVIEW COUNT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BD95C80-B042-4712-87CC-7B2984147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810250"/>
            <a:ext cx="1752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</a:defRPr>
            </a:pPr>
            <a:r>
              <a:rPr sz="2550" b="1" i="0">
                <a:solidFill>
                  <a:srgbClr val="111827"/>
                </a:solidFill>
              </a:rPr>
              <a:t>74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AF8CAC2-95BE-4FCD-AA66-1777023E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314950"/>
            <a:ext cx="1905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ADBC45-ECA7-4C9E-8C33-B0EB68FEC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314950"/>
            <a:ext cx="1905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044"/>
          </a:solidFill>
          <a:ln xmlns:a="http://schemas.openxmlformats.org/drawingml/2006/main" w="0">
            <a:solidFill>
              <a:srgbClr val="16704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E32F501-D9D0-4DF3-99D2-3F7BCB564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05450"/>
            <a:ext cx="1562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F6F6C"/>
                </a:solidFill>
              </a:defRPr>
            </a:pPr>
            <a:r>
              <a:rPr sz="975" b="1" i="0">
                <a:solidFill>
                  <a:srgbClr val="5F6F6C"/>
                </a:solidFill>
              </a:rPr>
              <a:t>TRUE POSITIVES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BD00C58-4E4E-4F3A-8E47-416BC4D1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810250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</a:defRPr>
            </a:pPr>
            <a:r>
              <a:rPr sz="2550" b="1" i="0">
                <a:solidFill>
                  <a:srgbClr val="111827"/>
                </a:solidFill>
              </a:rPr>
              <a:t>10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22C88D-B6D0-4853-AC5A-3531421E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314950"/>
            <a:ext cx="1905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B930A40-1CE8-42A9-B163-DCF3A8AF6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314950"/>
            <a:ext cx="1905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3525"/>
          </a:solidFill>
          <a:ln xmlns:a="http://schemas.openxmlformats.org/drawingml/2006/main" w="0">
            <a:solidFill>
              <a:srgbClr val="A7352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ED5C53-E2CA-4314-A939-60715A953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505450"/>
            <a:ext cx="1562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F6F6C"/>
                </a:solidFill>
              </a:defRPr>
            </a:pPr>
            <a:r>
              <a:rPr sz="975" b="1" i="0">
                <a:solidFill>
                  <a:srgbClr val="5F6F6C"/>
                </a:solidFill>
              </a:rPr>
              <a:t>FALSE POSITIVES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0492C8-0C5C-4828-894C-9B0100E2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810250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</a:defRPr>
            </a:pPr>
            <a:r>
              <a:rPr sz="2550" b="1" i="0">
                <a:solidFill>
                  <a:srgbClr val="111827"/>
                </a:solidFill>
              </a:rPr>
              <a:t>64</a:t>
            </a:r>
          </a:p>
        </p:txBody>
      </p:sp>
    </p:spTree>
    <p:extLst>
      <p:ext uri="{BB962C8B-B14F-4D97-AF65-F5344CB8AC3E}">
        <p14:creationId xmlns:p14="http://schemas.microsoft.com/office/powerpoint/2010/main" val="158293783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745138-82C8-4012-BAD4-112616E2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87B73"/>
                </a:solidFill>
              </a:defRPr>
            </a:pPr>
            <a:r>
              <a:rPr sz="1200" b="1" i="0">
                <a:solidFill>
                  <a:srgbClr val="087B73"/>
                </a:solidFill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4F3E53-9E04-4E05-9F3D-7AFF90AB6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3850"/>
            <a:ext cx="828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827"/>
                </a:solidFill>
              </a:defRPr>
            </a:pPr>
            <a:r>
              <a:rPr sz="2850" b="1" i="0">
                <a:solidFill>
                  <a:srgbClr val="111827"/>
                </a:solidFill>
              </a:rPr>
              <a:t>Threshold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7790DD-ECCF-456D-9049-6F09555A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3820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F6F6C"/>
                </a:solidFill>
              </a:defRPr>
            </a:pPr>
            <a:r>
              <a:rPr sz="1275" b="0" i="0">
                <a:solidFill>
                  <a:srgbClr val="5F6F6C"/>
                </a:solidFill>
              </a:rPr>
              <a:t>The conclusion was a review policy, not just a probability score.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A5B66D-70BB-41BB-A175-496349F3E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EE"/>
          </a:solidFill>
          <a:ln xmlns:a="http://schemas.openxmlformats.org/drawingml/2006/main" w="0">
            <a:solidFill>
              <a:srgbClr val="E7F0E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477DF4-D7C8-432B-9965-05F31D1F4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81150"/>
            <a:ext cx="2476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CC97D4-F06C-478D-B50D-05AD94AB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811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B73"/>
          </a:solidFill>
          <a:ln xmlns:a="http://schemas.openxmlformats.org/drawingml/2006/main" w="0">
            <a:solidFill>
              <a:srgbClr val="087B7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BE7E91-15CA-48CA-89FB-929F5218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7165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F6F6C"/>
                </a:solidFill>
              </a:defRPr>
            </a:pPr>
            <a:r>
              <a:rPr sz="975" b="1" i="0">
                <a:solidFill>
                  <a:srgbClr val="5F6F6C"/>
                </a:solidFill>
              </a:rPr>
              <a:t>RECOMMENDED THRESHOLD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9736B4-162D-4DD0-BC0E-D97D9652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76450"/>
            <a:ext cx="2133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</a:defRPr>
            </a:pPr>
            <a:r>
              <a:rPr sz="2550" b="1" i="0">
                <a:solidFill>
                  <a:srgbClr val="111827"/>
                </a:solidFill>
              </a:rPr>
              <a:t>0.798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DA66CF-6BBE-4B5C-BC74-2B2012F43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581150"/>
            <a:ext cx="2095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96E30C-FE7D-4ABA-94B9-9B3B10AC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581150"/>
            <a:ext cx="2095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8B21"/>
          </a:solidFill>
          <a:ln xmlns:a="http://schemas.openxmlformats.org/drawingml/2006/main" w="0">
            <a:solidFill>
              <a:srgbClr val="C58B2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A464B5-B0B7-4E7D-883A-79423C9C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771650"/>
            <a:ext cx="1752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F6F6C"/>
                </a:solidFill>
              </a:defRPr>
            </a:pPr>
            <a:r>
              <a:rPr sz="975" b="1" i="0">
                <a:solidFill>
                  <a:srgbClr val="5F6F6C"/>
                </a:solidFill>
              </a:rPr>
              <a:t>TARGET CAPACITY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8C52C7-1C10-4AC1-8A1A-BF0E3D775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076450"/>
            <a:ext cx="1752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</a:defRPr>
            </a:pPr>
            <a:r>
              <a:rPr sz="2550" b="1" i="0">
                <a:solidFill>
                  <a:srgbClr val="111827"/>
                </a:solidFill>
              </a:rPr>
              <a:t>5%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7AD163-E1C2-44B9-94A5-66AAD1BC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581150"/>
            <a:ext cx="2095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C197A0-AEBD-448B-938C-8FF12B0A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581150"/>
            <a:ext cx="2095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044"/>
          </a:solidFill>
          <a:ln xmlns:a="http://schemas.openxmlformats.org/drawingml/2006/main" w="0">
            <a:solidFill>
              <a:srgbClr val="16704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27D168-E3FC-44C9-91C0-4783D40A1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71650"/>
            <a:ext cx="1752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F6F6C"/>
                </a:solidFill>
              </a:defRPr>
            </a:pPr>
            <a:r>
              <a:rPr sz="975" b="1" i="0">
                <a:solidFill>
                  <a:srgbClr val="5F6F6C"/>
                </a:solidFill>
              </a:rPr>
              <a:t>QUEUE HIT RATE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4FD0D6-885D-42CF-A44C-AE76257FE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76450"/>
            <a:ext cx="1752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</a:defRPr>
            </a:pPr>
            <a:r>
              <a:rPr sz="2550" b="1" i="0">
                <a:solidFill>
                  <a:srgbClr val="111827"/>
                </a:solidFill>
              </a:rPr>
              <a:t>13.5%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4BF139-2BC0-413F-9D59-4C65BB8AB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581150"/>
            <a:ext cx="22860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FB96CB-CEE5-4442-9B82-79BA3A71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5811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044"/>
          </a:solidFill>
          <a:ln xmlns:a="http://schemas.openxmlformats.org/drawingml/2006/main" w="0">
            <a:solidFill>
              <a:srgbClr val="16704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D3D723-1B3A-4767-85DA-8B18C825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7716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F6F6C"/>
                </a:solidFill>
              </a:defRPr>
            </a:pPr>
            <a:r>
              <a:rPr sz="975" b="1" i="0">
                <a:solidFill>
                  <a:srgbClr val="5F6F6C"/>
                </a:solidFill>
              </a:rPr>
              <a:t>FRAUD CAPTURE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2BE848-4CD3-4F18-8860-D8738B725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076450"/>
            <a:ext cx="1943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</a:defRPr>
            </a:pPr>
            <a:r>
              <a:rPr sz="2550" b="1" i="0">
                <a:solidFill>
                  <a:srgbClr val="111827"/>
                </a:solidFill>
              </a:rPr>
              <a:t>25.0%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49BB39-2819-470E-8F3C-5CDA381E1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4762500" cy="1771650"/>
          </a:xfrm>
          <a:prstGeom xmlns:a="http://schemas.openxmlformats.org/drawingml/2006/main" prst="roundRect">
            <a:avLst>
              <a:gd name="adj" fmla="val 430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20FE41-9E6F-4316-B4AC-AE1CF02C6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242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</a:defRPr>
            </a:pPr>
            <a:r>
              <a:rPr sz="1875" b="1" i="0">
                <a:solidFill>
                  <a:srgbClr val="111827"/>
                </a:solidFill>
              </a:rPr>
              <a:t>Why threshold matters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22D249-6033-416E-9CCC-C5828E97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005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87B73"/>
                </a:solidFill>
              </a:defRPr>
            </a:pPr>
            <a:r>
              <a:rPr sz="1275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535C51-B27E-4069-841B-3698F2535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000500"/>
            <a:ext cx="3562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Lower threshold: catches more fraud but creates more false positives.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1CE468-7ED4-4688-A784-D1AD41199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434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87B73"/>
                </a:solidFill>
              </a:defRPr>
            </a:pPr>
            <a:r>
              <a:rPr sz="1275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8540C5-4D3E-4B3C-8CC2-AF9607347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43400"/>
            <a:ext cx="3562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Higher threshold: smaller queue but more missed fraud.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0119A4-D1A7-4696-84D8-4903B188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863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87B73"/>
                </a:solidFill>
              </a:defRPr>
            </a:pPr>
            <a:r>
              <a:rPr sz="1275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5DB7D2-16AC-4660-B1B8-1DB0DB18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686300"/>
            <a:ext cx="3562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Capacity becomes a business decision, not a hidden model setting.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8179412-5CE8-4A91-A12C-B15C80A6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238500"/>
            <a:ext cx="4762500" cy="1771650"/>
          </a:xfrm>
          <a:prstGeom xmlns:a="http://schemas.openxmlformats.org/drawingml/2006/main" prst="roundRect">
            <a:avLst>
              <a:gd name="adj" fmla="val 4301"/>
            </a:avLst>
          </a:prstGeom>
          <a:solidFill xmlns:a="http://schemas.openxmlformats.org/drawingml/2006/main">
            <a:srgbClr val="DFF3E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B7232F-A38D-45D6-A17C-FF259353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5242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64E49"/>
                </a:solidFill>
              </a:defRPr>
            </a:pPr>
            <a:r>
              <a:rPr sz="1875" b="1" i="0">
                <a:solidFill>
                  <a:srgbClr val="064E49"/>
                </a:solidFill>
              </a:rPr>
              <a:t>Final policy decision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89A1CF-C9B4-4C6D-A35C-6331E938C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0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111827"/>
                </a:solidFill>
              </a:defRPr>
            </a:pPr>
            <a:r>
              <a:rPr sz="1425" b="0" i="0">
                <a:solidFill>
                  <a:srgbClr val="111827"/>
                </a:solidFill>
              </a:rPr>
              <a:t>Use a 0.798 review threshold for the prototype, monitor the actual queue rate, and allow exact top-K selection when staffing is fixed.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9C8677-47B1-480B-B2EE-7C8F7CEF4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34000"/>
            <a:ext cx="9334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5B95C4-E1D7-4984-BC30-4B7F6DD0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626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64E49"/>
                </a:solidFill>
              </a:defRPr>
            </a:pPr>
            <a:r>
              <a:rPr sz="1275" b="1" i="0">
                <a:solidFill>
                  <a:srgbClr val="064E49"/>
                </a:solidFill>
              </a:rPr>
              <a:t>Benchmark story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D80FB9-BF5B-42C9-9621-E091A5A42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673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11827"/>
                </a:solidFill>
              </a:defRPr>
            </a:pPr>
            <a:r>
              <a:rPr sz="1125" b="0" i="0">
                <a:solidFill>
                  <a:srgbClr val="111827"/>
                </a:solidFill>
              </a:rPr>
              <a:t>Old alert: 22 reviews, 8 frauds, 14 false positives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C39D6F0-0853-42CA-8F98-3443AE0F4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4673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11827"/>
                </a:solidFill>
              </a:defRPr>
            </a:pPr>
            <a:r>
              <a:rPr sz="1125" b="0" i="0">
                <a:solidFill>
                  <a:srgbClr val="111827"/>
                </a:solidFill>
              </a:rPr>
              <a:t>Risk triage: 74 reviews, 10 frauds, 64 false positives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1918737-0CF2-4F8B-8AB0-E52F026A2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4673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064E49"/>
                </a:solidFill>
              </a:defRPr>
            </a:pPr>
            <a:r>
              <a:rPr sz="1125" b="1" i="0">
                <a:solidFill>
                  <a:srgbClr val="064E49"/>
                </a:solidFill>
              </a:rPr>
              <a:t>Trade-off: +2 caught frauds for +52 extra reviews</a:t>
            </a:r>
          </a:p>
        </p:txBody>
      </p:sp>
    </p:spTree>
    <p:extLst>
      <p:ext uri="{BB962C8B-B14F-4D97-AF65-F5344CB8AC3E}">
        <p14:creationId xmlns:p14="http://schemas.microsoft.com/office/powerpoint/2010/main" val="8381221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AF43AC-68F4-401B-BD3E-67621DC67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87B73"/>
                </a:solidFill>
              </a:defRPr>
            </a:pPr>
            <a:r>
              <a:rPr sz="1200" b="1" i="0">
                <a:solidFill>
                  <a:srgbClr val="087B73"/>
                </a:solidFill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6F6E65-BC7A-4D33-9711-47719243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3850"/>
            <a:ext cx="828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827"/>
                </a:solidFill>
              </a:defRPr>
            </a:pPr>
            <a:r>
              <a:rPr sz="2850" b="1" i="0">
                <a:solidFill>
                  <a:srgbClr val="111827"/>
                </a:solidFill>
              </a:rPr>
              <a:t>From Model To Analyst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77852C-44E9-4681-9015-887DDCF2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3820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F6F6C"/>
                </a:solidFill>
              </a:defRPr>
            </a:pPr>
            <a:r>
              <a:rPr sz="1275" b="0" i="0">
                <a:solidFill>
                  <a:srgbClr val="5F6F6C"/>
                </a:solidFill>
              </a:rPr>
              <a:t>I turned the model into a static Vercel app so the reviewer can score, inspect, and export cases.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C51770-25F6-4296-AD4B-299584B59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EE"/>
          </a:solidFill>
          <a:ln xmlns:a="http://schemas.openxmlformats.org/drawingml/2006/main" w="0">
            <a:solidFill>
              <a:srgbClr val="E7F0EE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83dbc3a45945f1"/>
          <a:stretch xmlns:a="http://schemas.openxmlformats.org/drawingml/2006/main"/>
        </p:blipFill>
        <p:spPr>
          <a:xfrm xmlns:a="http://schemas.openxmlformats.org/drawingml/2006/main">
            <a:off x="1384415" y="1524000"/>
            <a:ext cx="4813069" cy="3676650"/>
          </a:xfrm>
          <a:prstGeom xmlns:a="http://schemas.openxmlformats.org/drawingml/2006/main" prst="round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E904FF-EBA3-490F-9980-D911FC351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619250"/>
            <a:ext cx="38100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22BEDF-C0FA-463A-93E4-0F8CBF52F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240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11827"/>
                </a:solidFill>
              </a:defRPr>
            </a:pPr>
            <a:r>
              <a:rPr sz="1950" b="1" i="0">
                <a:solidFill>
                  <a:srgbClr val="111827"/>
                </a:solidFill>
              </a:rPr>
              <a:t>Score view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C6AA82-2AAC-496D-851B-010D094A3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45745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87B73"/>
                </a:solidFill>
              </a:defRPr>
            </a:pPr>
            <a:r>
              <a:rPr sz="135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8EDEDF-0C96-4B06-AF50-A4B6CB9B2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57450"/>
            <a:ext cx="2895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Transaction ID lookup and manual scoring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2029FC-0438-45C0-AD16-A82B0250A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8575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87B73"/>
                </a:solidFill>
              </a:defRPr>
            </a:pPr>
            <a:r>
              <a:rPr sz="135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BB0508-3C9D-4EBF-86CE-8D7D8C23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2895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Fraud probability and priority tier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78862A-D561-4A2D-BC1D-2A2BC6601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25755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87B73"/>
                </a:solidFill>
              </a:defRPr>
            </a:pPr>
            <a:r>
              <a:rPr sz="135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D02F51-465C-4A97-9566-3531A136F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57550"/>
            <a:ext cx="2895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Plain-English why section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7AE076-FE3D-4C20-AEDA-0CFBB40A4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6576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87B73"/>
                </a:solidFill>
              </a:defRPr>
            </a:pPr>
            <a:r>
              <a:rPr sz="135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0CA536-91F2-48ED-9923-6E8DCA458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57600"/>
            <a:ext cx="2895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Investigator next steps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791D54-A567-4208-9FBB-4EDA1F60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05765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87B73"/>
                </a:solidFill>
              </a:defRPr>
            </a:pPr>
            <a:r>
              <a:rPr sz="135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CC6363-73EE-4057-95FA-9698BEE9B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057650"/>
            <a:ext cx="2895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CSV export for case evidence</a:t>
            </a:r>
          </a:p>
        </p:txBody>
      </p:sp>
    </p:spTree>
    <p:extLst>
      <p:ext uri="{BB962C8B-B14F-4D97-AF65-F5344CB8AC3E}">
        <p14:creationId xmlns:p14="http://schemas.microsoft.com/office/powerpoint/2010/main" val="15527919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D4B08E-84C4-451D-ADF6-BD71ACAD7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87B73"/>
                </a:solidFill>
              </a:defRPr>
            </a:pPr>
            <a:r>
              <a:rPr sz="1200" b="1" i="0">
                <a:solidFill>
                  <a:srgbClr val="087B73"/>
                </a:solidFill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48372F-295B-4051-8781-49764094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3850"/>
            <a:ext cx="828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827"/>
                </a:solidFill>
              </a:defRPr>
            </a:pPr>
            <a:r>
              <a:rPr sz="2850" b="1" i="0">
                <a:solidFill>
                  <a:srgbClr val="111827"/>
                </a:solidFill>
              </a:rPr>
              <a:t>Queue And Operating Controls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40A2B7-2125-4A77-A470-3D9316076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3820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F6F6C"/>
                </a:solidFill>
              </a:defRPr>
            </a:pPr>
            <a:r>
              <a:rPr sz="1275" b="0" i="0">
                <a:solidFill>
                  <a:srgbClr val="5F6F6C"/>
                </a:solidFill>
              </a:rPr>
              <a:t>The app shows workload, false positives, rule gaps, and highest-risk cases for review.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E4B207-3C06-45D3-B8E1-8BF914C30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EE"/>
          </a:solidFill>
          <a:ln xmlns:a="http://schemas.openxmlformats.org/drawingml/2006/main" w="0">
            <a:solidFill>
              <a:srgbClr val="E7F0EE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cd9aa875544a4a"/>
          <a:stretch xmlns:a="http://schemas.openxmlformats.org/drawingml/2006/main"/>
        </p:blipFill>
        <p:spPr>
          <a:xfrm xmlns:a="http://schemas.openxmlformats.org/drawingml/2006/main">
            <a:off x="1235652" y="1524000"/>
            <a:ext cx="4862945" cy="3714750"/>
          </a:xfrm>
          <a:prstGeom xmlns:a="http://schemas.openxmlformats.org/drawingml/2006/main" prst="round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3888DA-F34D-437F-8610-1E1679154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524000"/>
            <a:ext cx="4000500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699E51-B9C2-468F-8AD0-A530F79E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8097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11827"/>
                </a:solidFill>
              </a:defRPr>
            </a:pPr>
            <a:r>
              <a:rPr sz="1950" b="1" i="0">
                <a:solidFill>
                  <a:srgbClr val="111827"/>
                </a:solidFill>
              </a:rPr>
              <a:t>Queue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041D6-A19A-47DD-99DE-DC41C02EE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43150"/>
            <a:ext cx="1524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3594C3-B3DF-4C3E-B733-FADF26E3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43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B73"/>
          </a:solidFill>
          <a:ln xmlns:a="http://schemas.openxmlformats.org/drawingml/2006/main" w="0">
            <a:solidFill>
              <a:srgbClr val="087B7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D56EA8-4F4E-4780-8361-9EA9640FE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533650"/>
            <a:ext cx="1181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F6F6C"/>
                </a:solidFill>
              </a:defRPr>
            </a:pPr>
            <a:r>
              <a:rPr sz="975" b="1" i="0">
                <a:solidFill>
                  <a:srgbClr val="5F6F6C"/>
                </a:solidFill>
              </a:rPr>
              <a:t>REVIEW QUEUE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D06213-E26C-413D-A6C8-942D249A5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838450"/>
            <a:ext cx="1181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</a:defRPr>
            </a:pPr>
            <a:r>
              <a:rPr sz="2550" b="1" i="0">
                <a:solidFill>
                  <a:srgbClr val="111827"/>
                </a:solidFill>
              </a:rPr>
              <a:t>74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85D27F-362C-46B8-92D4-CFFA05C4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43150"/>
            <a:ext cx="1524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663AE4-10C5-47A9-A502-530F2764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43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044"/>
          </a:solidFill>
          <a:ln xmlns:a="http://schemas.openxmlformats.org/drawingml/2006/main" w="0">
            <a:solidFill>
              <a:srgbClr val="16704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DFA23C-3DD7-4048-8154-BD69E4887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33650"/>
            <a:ext cx="1181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F6F6C"/>
                </a:solidFill>
              </a:defRPr>
            </a:pPr>
            <a:r>
              <a:rPr sz="975" b="1" i="0">
                <a:solidFill>
                  <a:srgbClr val="5F6F6C"/>
                </a:solidFill>
              </a:rPr>
              <a:t>FRAUDS IN QUEUE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BE125B-1462-4092-B773-2CF5C3F86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838450"/>
            <a:ext cx="1181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</a:defRPr>
            </a:pPr>
            <a:r>
              <a:rPr sz="2550" b="1" i="0">
                <a:solidFill>
                  <a:srgbClr val="111827"/>
                </a:solidFill>
              </a:rPr>
              <a:t>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06736E-0432-460E-B8C4-3489278DA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505200"/>
            <a:ext cx="1524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42A649-DFB5-4B18-9FC9-B7D20306A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50520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8B21"/>
          </a:solidFill>
          <a:ln xmlns:a="http://schemas.openxmlformats.org/drawingml/2006/main" w="0">
            <a:solidFill>
              <a:srgbClr val="C58B2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1FCD1A-D91A-4609-AAE0-3BECC4BA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695700"/>
            <a:ext cx="1181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F6F6C"/>
                </a:solidFill>
              </a:defRPr>
            </a:pPr>
            <a:r>
              <a:rPr sz="975" b="1" i="0">
                <a:solidFill>
                  <a:srgbClr val="5F6F6C"/>
                </a:solidFill>
              </a:rPr>
              <a:t>RULE-GAP CASES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492AE4-556D-4263-AF8F-4213C9D5D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000500"/>
            <a:ext cx="1181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</a:defRPr>
            </a:pPr>
            <a:r>
              <a:rPr sz="2550" b="1" i="0">
                <a:solidFill>
                  <a:srgbClr val="111827"/>
                </a:solidFill>
              </a:rPr>
              <a:t>11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4AAC2F-B963-418F-B18B-AD1C13300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505200"/>
            <a:ext cx="1524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1355F1-D495-4CF8-B232-5452FD7E8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50520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3525"/>
          </a:solidFill>
          <a:ln xmlns:a="http://schemas.openxmlformats.org/drawingml/2006/main" w="0">
            <a:solidFill>
              <a:srgbClr val="A7352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7B487A-63FB-4949-A1D6-05604812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695700"/>
            <a:ext cx="1181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F6F6C"/>
                </a:solidFill>
              </a:defRPr>
            </a:pPr>
            <a:r>
              <a:rPr sz="975" b="1" i="0">
                <a:solidFill>
                  <a:srgbClr val="5F6F6C"/>
                </a:solidFill>
              </a:rPr>
              <a:t>FALSE POSITIVES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0F3F52-1FE7-4325-A4E1-F8EFD801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000500"/>
            <a:ext cx="1181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</a:defRPr>
            </a:pPr>
            <a:r>
              <a:rPr sz="2550" b="1" i="0">
                <a:solidFill>
                  <a:srgbClr val="111827"/>
                </a:solidFill>
              </a:rPr>
              <a:t>64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3D682A-2850-42EA-8F2E-29A857B4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6482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F6F6C"/>
                </a:solidFill>
              </a:defRPr>
            </a:pPr>
            <a:r>
              <a:rPr sz="1275" b="0" i="0">
                <a:solidFill>
                  <a:srgbClr val="5F6F6C"/>
                </a:solidFill>
              </a:rPr>
              <a:t>This is where the project becomes operational: it tells the investigator what to review now and shows leadership the workload trade-off.</a:t>
            </a:r>
          </a:p>
        </p:txBody>
      </p:sp>
    </p:spTree>
    <p:extLst>
      <p:ext uri="{BB962C8B-B14F-4D97-AF65-F5344CB8AC3E}">
        <p14:creationId xmlns:p14="http://schemas.microsoft.com/office/powerpoint/2010/main" val="11267149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E35683-54FD-4C3A-92BA-B5D03F49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87B73"/>
                </a:solidFill>
              </a:defRPr>
            </a:pPr>
            <a:r>
              <a:rPr sz="1200" b="1" i="0">
                <a:solidFill>
                  <a:srgbClr val="087B73"/>
                </a:solidFill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A79DE9-1265-4B73-9C7E-7BE47B398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3850"/>
            <a:ext cx="828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827"/>
                </a:solidFill>
              </a:defRPr>
            </a:pPr>
            <a:r>
              <a:rPr sz="2850" b="1" i="0">
                <a:solidFill>
                  <a:srgbClr val="111827"/>
                </a:solidFill>
              </a:rPr>
              <a:t>Explainability Layer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E9C23F-09CD-42F4-B12C-BBDF8CD2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3820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F6F6C"/>
                </a:solidFill>
              </a:defRPr>
            </a:pPr>
            <a:r>
              <a:rPr sz="1275" b="0" i="0">
                <a:solidFill>
                  <a:srgbClr val="5F6F6C"/>
                </a:solidFill>
              </a:rPr>
              <a:t>The system explains which feature values pushed the score up or down for a specific transaction.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2374BB-5B58-4937-B6BF-E7ACFA493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EE"/>
          </a:solidFill>
          <a:ln xmlns:a="http://schemas.openxmlformats.org/drawingml/2006/main" w="0">
            <a:solidFill>
              <a:srgbClr val="E7F0E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EC7898-CC17-496F-9C89-47676409E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38300"/>
            <a:ext cx="4743450" cy="3581400"/>
          </a:xfrm>
          <a:prstGeom xmlns:a="http://schemas.openxmlformats.org/drawingml/2006/main" prst="roundRect">
            <a:avLst>
              <a:gd name="adj" fmla="val 2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05D29D-65E1-495A-B276-CBD2D7B3A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9431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</a:defRPr>
            </a:pPr>
            <a:r>
              <a:rPr sz="1875" b="1" i="0">
                <a:solidFill>
                  <a:srgbClr val="111827"/>
                </a:solidFill>
              </a:rPr>
              <a:t>Example explanation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E2C2ED-3DD5-4245-AA37-E339F9C8B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5745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111827"/>
                </a:solidFill>
              </a:defRPr>
            </a:pPr>
            <a:r>
              <a:rPr sz="1575" b="0" i="0">
                <a:solidFill>
                  <a:srgbClr val="111827"/>
                </a:solidFill>
              </a:rPr>
              <a:t>Critical risk is mainly driven by Geographic distance above the typical reference value, plus transaction amount above the usual amount profile.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CE466E-90A5-44BF-8ACD-08179B565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29000"/>
            <a:ext cx="3810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EE"/>
          </a:solidFill>
          <a:ln xmlns:a="http://schemas.openxmlformats.org/drawingml/2006/main" w="0">
            <a:solidFill>
              <a:srgbClr val="E7F0E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9CB00A-4918-4216-A04E-09454464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1475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87B73"/>
                </a:solidFill>
              </a:defRPr>
            </a:pPr>
            <a:r>
              <a:rPr sz="135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408199-A053-45CE-B7C4-40B4E0555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14750"/>
            <a:ext cx="3524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Global view: strongest broad model drivers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9809BC-9232-44B7-93DF-DB7669F0D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87B73"/>
                </a:solidFill>
              </a:defRPr>
            </a:pPr>
            <a:r>
              <a:rPr sz="135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56A9FB-7109-4ACD-95C8-DF580CE6A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76700"/>
            <a:ext cx="3524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Local view: reasons for this exact case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24EB76-E274-4D1C-AB5B-AA7F7A390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3865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87B73"/>
                </a:solidFill>
              </a:defRPr>
            </a:pPr>
            <a:r>
              <a:rPr sz="135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19B4FB-F1E7-4805-8CB2-FC77893F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38650"/>
            <a:ext cx="3524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Investigator view: what to check next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78EF59-5F71-479F-BA88-29BE8874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38300"/>
            <a:ext cx="4743450" cy="3581400"/>
          </a:xfrm>
          <a:prstGeom xmlns:a="http://schemas.openxmlformats.org/drawingml/2006/main" prst="roundRect">
            <a:avLst>
              <a:gd name="adj" fmla="val 2128"/>
            </a:avLst>
          </a:prstGeom>
          <a:solidFill xmlns:a="http://schemas.openxmlformats.org/drawingml/2006/main">
            <a:srgbClr val="DFF3E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BFDC23-21FA-48CD-BE75-572E2DB7C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431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64E49"/>
                </a:solidFill>
              </a:defRPr>
            </a:pPr>
            <a:r>
              <a:rPr sz="1875" b="1" i="0">
                <a:solidFill>
                  <a:srgbClr val="064E49"/>
                </a:solidFill>
              </a:rPr>
              <a:t>How I explain it simply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B05B08-A530-4684-A897-1E473EFDE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57450"/>
            <a:ext cx="3905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111827"/>
                </a:solidFill>
              </a:defRPr>
            </a:pPr>
            <a:r>
              <a:rPr sz="1575" b="0" i="0">
                <a:solidFill>
                  <a:srgbClr val="111827"/>
                </a:solidFill>
              </a:rPr>
              <a:t>The explanation is not saying the feature caused fraud. It is saying the model treated that feature value as unusual and risk-increasing compared with a typical transaction.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E6FC1B-4401-4255-B014-0B453C3ED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33800"/>
            <a:ext cx="390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064E49"/>
                </a:solidFill>
              </a:defRPr>
            </a:pPr>
            <a:r>
              <a:rPr sz="1575" b="1" i="0">
                <a:solidFill>
                  <a:srgbClr val="064E49"/>
                </a:solidFill>
              </a:rPr>
              <a:t>This protects the wording: model behavior, not guaranteed causality.</a:t>
            </a:r>
          </a:p>
        </p:txBody>
      </p:sp>
    </p:spTree>
    <p:extLst>
      <p:ext uri="{BB962C8B-B14F-4D97-AF65-F5344CB8AC3E}">
        <p14:creationId xmlns:p14="http://schemas.microsoft.com/office/powerpoint/2010/main" val="19193668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41624D-6880-4A11-8C0C-FEBC3BAA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87B73"/>
                </a:solidFill>
              </a:defRPr>
            </a:pPr>
            <a:r>
              <a:rPr sz="1200" b="1" i="0">
                <a:solidFill>
                  <a:srgbClr val="087B73"/>
                </a:solidFill>
              </a:rPr>
              <a:t>010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3FA58D-F1B7-44A3-82AF-F630414F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3850"/>
            <a:ext cx="828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827"/>
                </a:solidFill>
              </a:defRPr>
            </a:pPr>
            <a:r>
              <a:rPr sz="2850" b="1" i="0">
                <a:solidFill>
                  <a:srgbClr val="111827"/>
                </a:solidFill>
              </a:rPr>
              <a:t>Governance And Responsible Use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09BEF6-60E5-44D5-AB2C-C42014BB6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3820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F6F6C"/>
                </a:solidFill>
              </a:defRPr>
            </a:pPr>
            <a:r>
              <a:rPr sz="1275" b="0" i="0">
                <a:solidFill>
                  <a:srgbClr val="5F6F6C"/>
                </a:solidFill>
              </a:rPr>
              <a:t>The final solution is positioned as decision support with human review, not automatic blocking.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2E1245-6C1B-42CF-9736-A473B23D8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EE"/>
          </a:solidFill>
          <a:ln xmlns:a="http://schemas.openxmlformats.org/drawingml/2006/main" w="0">
            <a:solidFill>
              <a:srgbClr val="E7F0EE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ac33858ad94422"/>
          <a:stretch xmlns:a="http://schemas.openxmlformats.org/drawingml/2006/main"/>
        </p:blipFill>
        <p:spPr>
          <a:xfrm xmlns:a="http://schemas.openxmlformats.org/drawingml/2006/main">
            <a:off x="1248121" y="1543050"/>
            <a:ext cx="4838007" cy="3695700"/>
          </a:xfrm>
          <a:prstGeom xmlns:a="http://schemas.openxmlformats.org/drawingml/2006/main" prst="round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52F565-6AE7-43A3-AC15-A582D0ED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62100"/>
            <a:ext cx="4000500" cy="3695700"/>
          </a:xfrm>
          <a:prstGeom xmlns:a="http://schemas.openxmlformats.org/drawingml/2006/main" prst="roundRect">
            <a:avLst>
              <a:gd name="adj" fmla="val 20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183D1C-B373-4C24-A8CC-01E131F4E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8478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</a:defRPr>
            </a:pPr>
            <a:r>
              <a:rPr sz="1875" b="1" i="0">
                <a:solidFill>
                  <a:srgbClr val="111827"/>
                </a:solidFill>
              </a:rPr>
              <a:t>Controls I documented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9FA09F-8664-4A47-AE43-88431E849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8125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87B73"/>
                </a:solidFill>
              </a:defRPr>
            </a:pPr>
            <a:r>
              <a:rPr sz="1275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B740C1-4D26-48DF-A0DB-DFD991E95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2990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Model card and intended use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121B13-261C-4F35-B565-B01086037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7432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87B73"/>
                </a:solidFill>
              </a:defRPr>
            </a:pPr>
            <a:r>
              <a:rPr sz="1275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997AF0-C3F5-4CC1-8498-2BDAC2B43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43200"/>
            <a:ext cx="2990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Threshold strategy memo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A28EFA-C2DF-44A0-98E1-F3D5305C5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0515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87B73"/>
                </a:solidFill>
              </a:defRPr>
            </a:pPr>
            <a:r>
              <a:rPr sz="1275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37EEEB-09CF-4FE4-9A69-158B9BFE2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05150"/>
            <a:ext cx="2990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Human-in-the-loop review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728494-7936-4383-86A7-B2D35AB6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671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87B73"/>
                </a:solidFill>
              </a:defRPr>
            </a:pPr>
            <a:r>
              <a:rPr sz="1275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81F270-8164-4EC4-A1FB-304AB2B9F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67100"/>
            <a:ext cx="2990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Segment and drift monitoring plan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A848EE-751C-4B55-8DA1-77F0B6440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82905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87B73"/>
                </a:solidFill>
              </a:defRPr>
            </a:pPr>
            <a:r>
              <a:rPr sz="1275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814703-1133-42A9-B086-5EC42B6A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29050"/>
            <a:ext cx="2990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Risk register and approval gates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318B96-6AB8-48DC-BC02-4150E86C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1910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87B73"/>
                </a:solidFill>
              </a:defRPr>
            </a:pPr>
            <a:r>
              <a:rPr sz="1275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4CAFA6-DA91-4C13-85E7-7B7E5E9B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91000"/>
            <a:ext cx="2990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Production limitation: synthetic data 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869A67-2C2D-4047-8E08-A8D906F8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80060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64E49"/>
                </a:solidFill>
              </a:defRPr>
            </a:pPr>
            <a:r>
              <a:rPr sz="1425" b="1" i="0">
                <a:solidFill>
                  <a:srgbClr val="064E49"/>
                </a:solidFill>
              </a:rPr>
              <a:t>Best line: The model can prioritize review, but a human decides action.</a:t>
            </a:r>
          </a:p>
        </p:txBody>
      </p:sp>
    </p:spTree>
    <p:extLst>
      <p:ext uri="{BB962C8B-B14F-4D97-AF65-F5344CB8AC3E}">
        <p14:creationId xmlns:p14="http://schemas.microsoft.com/office/powerpoint/2010/main" val="119409790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roadmap-background">
            <a:extLst xmlns:a="http://schemas.openxmlformats.org/drawingml/2006/main">
              <a:ext uri="{FF2B5EF4-FFF2-40B4-BE49-F238E27FC236}">
                <a16:creationId xmlns:a16="http://schemas.microsoft.com/office/drawing/2014/main" id="{E82690FA-11AD-4C15-986A-EB0E9B374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52D3281-B9A3-4345-8358-2115084F2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05F5A"/>
                </a:solidFill>
              </a:defRPr>
            </a:pPr>
            <a:r>
              <a:rPr sz="1050" b="1">
                <a:solidFill>
                  <a:srgbClr val="005F5A"/>
                </a:solidFill>
              </a:rPr>
              <a:t>011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1B6C26B-9598-4871-8EE8-27EB4BAC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38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20618"/>
                </a:solidFill>
              </a:defRPr>
            </a:pPr>
            <a:r>
              <a:rPr sz="2550" b="1">
                <a:solidFill>
                  <a:srgbClr val="020618"/>
                </a:solidFill>
              </a:rPr>
              <a:t>How This Scales To A Bank-Grade System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3910186-5B8C-4B58-A075-F9F550B44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76300"/>
            <a:ext cx="942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45556C"/>
                </a:solidFill>
              </a:defRPr>
            </a:pPr>
            <a:r>
              <a:rPr sz="1275">
                <a:solidFill>
                  <a:srgbClr val="45556C"/>
                </a:solidFill>
              </a:rPr>
              <a:t>The prototype is complete as a decision-support demo; these are the controlled steps required before a real banking rollout.</a:t>
            </a:r>
          </a:p>
        </p:txBody>
      </p:sp>
      <p:sp>
        <p:nvSpPr>
          <p:cNvPr id="5" name="roadmap-card-1">
            <a:extLst xmlns:a="http://schemas.openxmlformats.org/drawingml/2006/main">
              <a:ext uri="{FF2B5EF4-FFF2-40B4-BE49-F238E27FC236}">
                <a16:creationId xmlns:a16="http://schemas.microsoft.com/office/drawing/2014/main" id="{C6D966E4-56DF-42BA-B3F8-238A73ED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3333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6" name="roadmap-card-accent-1">
            <a:extLst xmlns:a="http://schemas.openxmlformats.org/drawingml/2006/main">
              <a:ext uri="{FF2B5EF4-FFF2-40B4-BE49-F238E27FC236}">
                <a16:creationId xmlns:a16="http://schemas.microsoft.com/office/drawing/2014/main" id="{F6FEC6FF-54A6-431B-A51E-E3126353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3333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86F"/>
          </a:solidFill>
          <a:ln xmlns:a="http://schemas.openxmlformats.org/drawingml/2006/main" w="0">
            <a:solidFill>
              <a:srgbClr val="00786F"/>
            </a:solidFill>
            <a:prstDash val="solid"/>
          </a:ln>
        </p:spPr>
      </p:sp>
      <p:sp>
        <p:nvSpPr>
          <p:cNvPr id="7" name="roadmap-card-label-1">
            <a:extLst xmlns:a="http://schemas.openxmlformats.org/drawingml/2006/main">
              <a:ext uri="{FF2B5EF4-FFF2-40B4-BE49-F238E27FC236}">
                <a16:creationId xmlns:a16="http://schemas.microsoft.com/office/drawing/2014/main" id="{025D9DA1-304D-42A9-8EB5-4CE59094F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954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786F"/>
                </a:solidFill>
              </a:defRPr>
            </a:pPr>
            <a:r>
              <a:rPr sz="900" b="1">
                <a:solidFill>
                  <a:srgbClr val="00786F"/>
                </a:solidFill>
              </a:rPr>
              <a:t>PROTOTYPE NOW</a:t>
            </a:r>
          </a:p>
        </p:txBody>
      </p:sp>
      <p:sp>
        <p:nvSpPr>
          <p:cNvPr id="8" name="roadmap-card-title-1">
            <a:extLst xmlns:a="http://schemas.openxmlformats.org/drawingml/2006/main">
              <a:ext uri="{FF2B5EF4-FFF2-40B4-BE49-F238E27FC236}">
                <a16:creationId xmlns:a16="http://schemas.microsoft.com/office/drawing/2014/main" id="{203F400E-613B-43C5-9ED4-3B797F3D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20618"/>
                </a:solidFill>
              </a:defRPr>
            </a:pPr>
            <a:r>
              <a:rPr sz="1575" b="1">
                <a:solidFill>
                  <a:srgbClr val="020618"/>
                </a:solidFill>
              </a:rPr>
              <a:t>Working control tower</a:t>
            </a:r>
          </a:p>
        </p:txBody>
      </p:sp>
      <p:sp>
        <p:nvSpPr>
          <p:cNvPr id="9" name="roadmap-card-copy-1">
            <a:extLst xmlns:a="http://schemas.openxmlformats.org/drawingml/2006/main">
              <a:ext uri="{FF2B5EF4-FFF2-40B4-BE49-F238E27FC236}">
                <a16:creationId xmlns:a16="http://schemas.microsoft.com/office/drawing/2014/main" id="{CC745F8E-AD23-42B7-B00A-11F9272C2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295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45556C"/>
                </a:solidFill>
              </a:defRPr>
            </a:pPr>
            <a:r>
              <a:rPr sz="1125">
                <a:solidFill>
                  <a:srgbClr val="45556C"/>
                </a:solidFill>
              </a:rPr>
              <a:t>Synthetic test data, risk tiers, investigator queue, local reason codes, threshold economics, CSV case export, and governance evidence.</a:t>
            </a:r>
          </a:p>
        </p:txBody>
      </p:sp>
      <p:sp>
        <p:nvSpPr>
          <p:cNvPr id="10" name="roadmap-card-2">
            <a:extLst xmlns:a="http://schemas.openxmlformats.org/drawingml/2006/main">
              <a:ext uri="{FF2B5EF4-FFF2-40B4-BE49-F238E27FC236}">
                <a16:creationId xmlns:a16="http://schemas.microsoft.com/office/drawing/2014/main" id="{4CE2F0FE-9780-47F0-BDB1-E0D85580C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485900"/>
            <a:ext cx="3333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1" name="roadmap-card-accent-2">
            <a:extLst xmlns:a="http://schemas.openxmlformats.org/drawingml/2006/main">
              <a:ext uri="{FF2B5EF4-FFF2-40B4-BE49-F238E27FC236}">
                <a16:creationId xmlns:a16="http://schemas.microsoft.com/office/drawing/2014/main" id="{FB8610A9-9D8B-4A10-B9BE-C2498D114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485900"/>
            <a:ext cx="3333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7100"/>
          </a:solidFill>
          <a:ln xmlns:a="http://schemas.openxmlformats.org/drawingml/2006/main" w="0">
            <a:solidFill>
              <a:srgbClr val="E17100"/>
            </a:solidFill>
            <a:prstDash val="solid"/>
          </a:ln>
        </p:spPr>
      </p:sp>
      <p:sp>
        <p:nvSpPr>
          <p:cNvPr id="12" name="roadmap-card-label-2">
            <a:extLst xmlns:a="http://schemas.openxmlformats.org/drawingml/2006/main">
              <a:ext uri="{FF2B5EF4-FFF2-40B4-BE49-F238E27FC236}">
                <a16:creationId xmlns:a16="http://schemas.microsoft.com/office/drawing/2014/main" id="{692B80B0-7CBD-4186-801E-87AE54B91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6954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E17100"/>
                </a:solidFill>
              </a:defRPr>
            </a:pPr>
            <a:r>
              <a:rPr sz="900" b="1">
                <a:solidFill>
                  <a:srgbClr val="E17100"/>
                </a:solidFill>
              </a:rPr>
              <a:t>CONTROLLED PILOT</a:t>
            </a:r>
          </a:p>
        </p:txBody>
      </p:sp>
      <p:sp>
        <p:nvSpPr>
          <p:cNvPr id="13" name="roadmap-card-title-2">
            <a:extLst xmlns:a="http://schemas.openxmlformats.org/drawingml/2006/main">
              <a:ext uri="{FF2B5EF4-FFF2-40B4-BE49-F238E27FC236}">
                <a16:creationId xmlns:a16="http://schemas.microsoft.com/office/drawing/2014/main" id="{B5BB2411-8B9D-46D7-AED2-9649DFE94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962150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20618"/>
                </a:solidFill>
              </a:defRPr>
            </a:pPr>
            <a:r>
              <a:rPr sz="1575" b="1">
                <a:solidFill>
                  <a:srgbClr val="020618"/>
                </a:solidFill>
              </a:rPr>
              <a:t>Validate model trust</a:t>
            </a:r>
          </a:p>
        </p:txBody>
      </p:sp>
      <p:sp>
        <p:nvSpPr>
          <p:cNvPr id="14" name="roadmap-card-copy-2">
            <a:extLst xmlns:a="http://schemas.openxmlformats.org/drawingml/2006/main">
              <a:ext uri="{FF2B5EF4-FFF2-40B4-BE49-F238E27FC236}">
                <a16:creationId xmlns:a16="http://schemas.microsoft.com/office/drawing/2014/main" id="{5979B12A-DD2A-47EF-A893-AD81F178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00300"/>
            <a:ext cx="295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45556C"/>
                </a:solidFill>
              </a:defRPr>
            </a:pPr>
            <a:r>
              <a:rPr sz="1125">
                <a:solidFill>
                  <a:srgbClr val="45556C"/>
                </a:solidFill>
              </a:rPr>
              <a:t>Calibrated probabilities, real SHAP explanations, segment validation, investigator feedback capture, and weekly drift monitoring.</a:t>
            </a:r>
          </a:p>
        </p:txBody>
      </p:sp>
      <p:sp>
        <p:nvSpPr>
          <p:cNvPr id="15" name="roadmap-card-3">
            <a:extLst xmlns:a="http://schemas.openxmlformats.org/drawingml/2006/main">
              <a:ext uri="{FF2B5EF4-FFF2-40B4-BE49-F238E27FC236}">
                <a16:creationId xmlns:a16="http://schemas.microsoft.com/office/drawing/2014/main" id="{2F298E4D-8002-41FA-8198-F749522F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85900"/>
            <a:ext cx="3333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6" name="roadmap-card-accent-3">
            <a:extLst xmlns:a="http://schemas.openxmlformats.org/drawingml/2006/main">
              <a:ext uri="{FF2B5EF4-FFF2-40B4-BE49-F238E27FC236}">
                <a16:creationId xmlns:a16="http://schemas.microsoft.com/office/drawing/2014/main" id="{978E8701-0A84-485A-A666-C79ACFB2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85900"/>
            <a:ext cx="3333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158"/>
          </a:solidFill>
          <a:ln xmlns:a="http://schemas.openxmlformats.org/drawingml/2006/main" w="0">
            <a:solidFill>
              <a:srgbClr val="314158"/>
            </a:solidFill>
            <a:prstDash val="solid"/>
          </a:ln>
        </p:spPr>
      </p:sp>
      <p:sp>
        <p:nvSpPr>
          <p:cNvPr id="17" name="roadmap-card-label-3">
            <a:extLst xmlns:a="http://schemas.openxmlformats.org/drawingml/2006/main">
              <a:ext uri="{FF2B5EF4-FFF2-40B4-BE49-F238E27FC236}">
                <a16:creationId xmlns:a16="http://schemas.microsoft.com/office/drawing/2014/main" id="{443E717B-B1C1-49EB-83F1-01859F541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954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314158"/>
                </a:solidFill>
              </a:defRPr>
            </a:pPr>
            <a:r>
              <a:rPr sz="900" b="1">
                <a:solidFill>
                  <a:srgbClr val="314158"/>
                </a:solidFill>
              </a:rPr>
              <a:t>PRODUCTION READY</a:t>
            </a:r>
          </a:p>
        </p:txBody>
      </p:sp>
      <p:sp>
        <p:nvSpPr>
          <p:cNvPr id="18" name="roadmap-card-title-3">
            <a:extLst xmlns:a="http://schemas.openxmlformats.org/drawingml/2006/main">
              <a:ext uri="{FF2B5EF4-FFF2-40B4-BE49-F238E27FC236}">
                <a16:creationId xmlns:a16="http://schemas.microsoft.com/office/drawing/2014/main" id="{F6557524-60BA-491E-BE37-4C74B3FB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62150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20618"/>
                </a:solidFill>
              </a:defRPr>
            </a:pPr>
            <a:r>
              <a:rPr sz="1575" b="1">
                <a:solidFill>
                  <a:srgbClr val="020618"/>
                </a:solidFill>
              </a:rPr>
              <a:t>Needs bank infrastructure</a:t>
            </a:r>
          </a:p>
        </p:txBody>
      </p:sp>
      <p:sp>
        <p:nvSpPr>
          <p:cNvPr id="19" name="roadmap-card-copy-3">
            <a:extLst xmlns:a="http://schemas.openxmlformats.org/drawingml/2006/main">
              <a:ext uri="{FF2B5EF4-FFF2-40B4-BE49-F238E27FC236}">
                <a16:creationId xmlns:a16="http://schemas.microsoft.com/office/drawing/2014/main" id="{65B2A002-19CC-4A8E-B652-124D94883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00300"/>
            <a:ext cx="295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45556C"/>
                </a:solidFill>
              </a:defRPr>
            </a:pPr>
            <a:r>
              <a:rPr sz="1125">
                <a:solidFill>
                  <a:srgbClr val="45556C"/>
                </a:solidFill>
              </a:rPr>
              <a:t>Live transaction streams, customer and device history, graph fraud signals, role-based access, audit logs, and formal model-risk approval.</a:t>
            </a:r>
          </a:p>
        </p:txBody>
      </p:sp>
      <p:sp>
        <p:nvSpPr>
          <p:cNvPr id="20" name="pillar-surface">
            <a:extLst xmlns:a="http://schemas.openxmlformats.org/drawingml/2006/main">
              <a:ext uri="{FF2B5EF4-FFF2-40B4-BE49-F238E27FC236}">
                <a16:creationId xmlns:a16="http://schemas.microsoft.com/office/drawing/2014/main" id="{E9A41C84-987A-4246-A9E8-55F263E2E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814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1" name="pillar-header">
            <a:extLst xmlns:a="http://schemas.openxmlformats.org/drawingml/2006/main">
              <a:ext uri="{FF2B5EF4-FFF2-40B4-BE49-F238E27FC236}">
                <a16:creationId xmlns:a16="http://schemas.microsoft.com/office/drawing/2014/main" id="{FD8D4B49-AA94-4383-A4BF-577B48B9D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9095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Scale-up pillars a reviewer should expect</a:t>
            </a:r>
          </a:p>
        </p:txBody>
      </p:sp>
      <p:sp>
        <p:nvSpPr>
          <p:cNvPr id="22" name="pillar-0">
            <a:extLst xmlns:a="http://schemas.openxmlformats.org/drawingml/2006/main">
              <a:ext uri="{FF2B5EF4-FFF2-40B4-BE49-F238E27FC236}">
                <a16:creationId xmlns:a16="http://schemas.microsoft.com/office/drawing/2014/main" id="{71E42FF3-CE6F-4CD0-992E-F616B1D04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48150"/>
            <a:ext cx="19812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3" name="pillar-title-0">
            <a:extLst xmlns:a="http://schemas.openxmlformats.org/drawingml/2006/main">
              <a:ext uri="{FF2B5EF4-FFF2-40B4-BE49-F238E27FC236}">
                <a16:creationId xmlns:a16="http://schemas.microsoft.com/office/drawing/2014/main" id="{8E140700-85FB-4011-B9B4-C56E0DDA9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005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5F5A"/>
                </a:solidFill>
              </a:defRPr>
            </a:pPr>
            <a:r>
              <a:rPr sz="1200" b="1">
                <a:solidFill>
                  <a:srgbClr val="005F5A"/>
                </a:solidFill>
              </a:rPr>
              <a:t>Data</a:t>
            </a:r>
          </a:p>
        </p:txBody>
      </p:sp>
      <p:sp>
        <p:nvSpPr>
          <p:cNvPr id="24" name="pillar-copy-0">
            <a:extLst xmlns:a="http://schemas.openxmlformats.org/drawingml/2006/main">
              <a:ext uri="{FF2B5EF4-FFF2-40B4-BE49-F238E27FC236}">
                <a16:creationId xmlns:a16="http://schemas.microsoft.com/office/drawing/2014/main" id="{1BCD2CC2-E2F2-4062-9BCE-53DC8E31E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8630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45">
                <a:solidFill>
                  <a:srgbClr val="45556C"/>
                </a:solidFill>
              </a:defRPr>
            </a:pPr>
            <a:r>
              <a:rPr sz="945">
                <a:solidFill>
                  <a:srgbClr val="45556C"/>
                </a:solidFill>
              </a:rPr>
              <a:t>Move from synthetic records to representative transaction, customer, account, and device data.</a:t>
            </a:r>
          </a:p>
        </p:txBody>
      </p:sp>
      <p:sp>
        <p:nvSpPr>
          <p:cNvPr id="25" name="pillar-1">
            <a:extLst xmlns:a="http://schemas.openxmlformats.org/drawingml/2006/main">
              <a:ext uri="{FF2B5EF4-FFF2-40B4-BE49-F238E27FC236}">
                <a16:creationId xmlns:a16="http://schemas.microsoft.com/office/drawing/2014/main" id="{825409B2-B703-4D06-931A-2534C47FD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248150"/>
            <a:ext cx="19812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6" name="pillar-title-1">
            <a:extLst xmlns:a="http://schemas.openxmlformats.org/drawingml/2006/main">
              <a:ext uri="{FF2B5EF4-FFF2-40B4-BE49-F238E27FC236}">
                <a16:creationId xmlns:a16="http://schemas.microsoft.com/office/drawing/2014/main" id="{670F124A-7F9E-4B45-AB85-3B6D9B15F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4005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5F5A"/>
                </a:solidFill>
              </a:defRPr>
            </a:pPr>
            <a:r>
              <a:rPr sz="1200" b="1">
                <a:solidFill>
                  <a:srgbClr val="005F5A"/>
                </a:solidFill>
              </a:rPr>
              <a:t>Model</a:t>
            </a:r>
          </a:p>
        </p:txBody>
      </p:sp>
      <p:sp>
        <p:nvSpPr>
          <p:cNvPr id="27" name="pillar-copy-1">
            <a:extLst xmlns:a="http://schemas.openxmlformats.org/drawingml/2006/main">
              <a:ext uri="{FF2B5EF4-FFF2-40B4-BE49-F238E27FC236}">
                <a16:creationId xmlns:a16="http://schemas.microsoft.com/office/drawing/2014/main" id="{C41038BF-D82E-485B-BC82-E07156CE4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68630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45">
                <a:solidFill>
                  <a:srgbClr val="45556C"/>
                </a:solidFill>
              </a:defRPr>
            </a:pPr>
            <a:r>
              <a:rPr sz="945">
                <a:solidFill>
                  <a:srgbClr val="45556C"/>
                </a:solidFill>
              </a:rPr>
              <a:t>Add calibration, SHAP, challenger models, and graph/network fraud signals.</a:t>
            </a:r>
          </a:p>
        </p:txBody>
      </p:sp>
      <p:sp>
        <p:nvSpPr>
          <p:cNvPr id="28" name="pillar-2">
            <a:extLst xmlns:a="http://schemas.openxmlformats.org/drawingml/2006/main">
              <a:ext uri="{FF2B5EF4-FFF2-40B4-BE49-F238E27FC236}">
                <a16:creationId xmlns:a16="http://schemas.microsoft.com/office/drawing/2014/main" id="{A03EB47D-BCBA-4180-BC3E-5D7E3BC17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248150"/>
            <a:ext cx="19812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9" name="pillar-title-2">
            <a:extLst xmlns:a="http://schemas.openxmlformats.org/drawingml/2006/main">
              <a:ext uri="{FF2B5EF4-FFF2-40B4-BE49-F238E27FC236}">
                <a16:creationId xmlns:a16="http://schemas.microsoft.com/office/drawing/2014/main" id="{3667DB02-8569-4AE2-8276-24701302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4005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5F5A"/>
                </a:solidFill>
              </a:defRPr>
            </a:pPr>
            <a:r>
              <a:rPr sz="1200" b="1">
                <a:solidFill>
                  <a:srgbClr val="005F5A"/>
                </a:solidFill>
              </a:rPr>
              <a:t>Workflow</a:t>
            </a:r>
          </a:p>
        </p:txBody>
      </p:sp>
      <p:sp>
        <p:nvSpPr>
          <p:cNvPr id="30" name="pillar-copy-2">
            <a:extLst xmlns:a="http://schemas.openxmlformats.org/drawingml/2006/main">
              <a:ext uri="{FF2B5EF4-FFF2-40B4-BE49-F238E27FC236}">
                <a16:creationId xmlns:a16="http://schemas.microsoft.com/office/drawing/2014/main" id="{2018EAEB-78F1-4299-B279-7CFAED276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68630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45">
                <a:solidFill>
                  <a:srgbClr val="45556C"/>
                </a:solidFill>
              </a:defRPr>
            </a:pPr>
            <a:r>
              <a:rPr sz="945">
                <a:solidFill>
                  <a:srgbClr val="45556C"/>
                </a:solidFill>
              </a:rPr>
              <a:t>Capture analyst dispositions, case lifecycle status, SLA routing, and feedback loops.</a:t>
            </a:r>
          </a:p>
        </p:txBody>
      </p:sp>
      <p:sp>
        <p:nvSpPr>
          <p:cNvPr id="31" name="pillar-3">
            <a:extLst xmlns:a="http://schemas.openxmlformats.org/drawingml/2006/main">
              <a:ext uri="{FF2B5EF4-FFF2-40B4-BE49-F238E27FC236}">
                <a16:creationId xmlns:a16="http://schemas.microsoft.com/office/drawing/2014/main" id="{692E86CC-3921-43EF-A85F-AEB049C74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248150"/>
            <a:ext cx="19812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2" name="pillar-title-3">
            <a:extLst xmlns:a="http://schemas.openxmlformats.org/drawingml/2006/main">
              <a:ext uri="{FF2B5EF4-FFF2-40B4-BE49-F238E27FC236}">
                <a16:creationId xmlns:a16="http://schemas.microsoft.com/office/drawing/2014/main" id="{87016ED7-7A57-4336-9047-057476A57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4005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5F5A"/>
                </a:solidFill>
              </a:defRPr>
            </a:pPr>
            <a:r>
              <a:rPr sz="1200" b="1">
                <a:solidFill>
                  <a:srgbClr val="005F5A"/>
                </a:solidFill>
              </a:rPr>
              <a:t>Governance</a:t>
            </a:r>
          </a:p>
        </p:txBody>
      </p:sp>
      <p:sp>
        <p:nvSpPr>
          <p:cNvPr id="33" name="pillar-copy-3">
            <a:extLst xmlns:a="http://schemas.openxmlformats.org/drawingml/2006/main">
              <a:ext uri="{FF2B5EF4-FFF2-40B4-BE49-F238E27FC236}">
                <a16:creationId xmlns:a16="http://schemas.microsoft.com/office/drawing/2014/main" id="{43F907C7-7290-4FFA-905B-D5050935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68630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45">
                <a:solidFill>
                  <a:srgbClr val="45556C"/>
                </a:solidFill>
              </a:defRPr>
            </a:pPr>
            <a:r>
              <a:rPr sz="945">
                <a:solidFill>
                  <a:srgbClr val="45556C"/>
                </a:solidFill>
              </a:rPr>
              <a:t>Run segment validation, drift monitoring, approval gates, and periodic threshold review.</a:t>
            </a:r>
          </a:p>
        </p:txBody>
      </p:sp>
      <p:sp>
        <p:nvSpPr>
          <p:cNvPr id="34" name="pillar-4">
            <a:extLst xmlns:a="http://schemas.openxmlformats.org/drawingml/2006/main">
              <a:ext uri="{FF2B5EF4-FFF2-40B4-BE49-F238E27FC236}">
                <a16:creationId xmlns:a16="http://schemas.microsoft.com/office/drawing/2014/main" id="{48885F23-EF3D-4277-A5F1-DC11A63A0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248150"/>
            <a:ext cx="19812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5" name="pillar-title-4">
            <a:extLst xmlns:a="http://schemas.openxmlformats.org/drawingml/2006/main">
              <a:ext uri="{FF2B5EF4-FFF2-40B4-BE49-F238E27FC236}">
                <a16:creationId xmlns:a16="http://schemas.microsoft.com/office/drawing/2014/main" id="{3F93D727-8DB5-4D0B-9E7F-599AF88DD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4005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5F5A"/>
                </a:solidFill>
              </a:defRPr>
            </a:pPr>
            <a:r>
              <a:rPr sz="1200" b="1">
                <a:solidFill>
                  <a:srgbClr val="005F5A"/>
                </a:solidFill>
              </a:rPr>
              <a:t>Security</a:t>
            </a:r>
          </a:p>
        </p:txBody>
      </p:sp>
      <p:sp>
        <p:nvSpPr>
          <p:cNvPr id="36" name="pillar-copy-4">
            <a:extLst xmlns:a="http://schemas.openxmlformats.org/drawingml/2006/main">
              <a:ext uri="{FF2B5EF4-FFF2-40B4-BE49-F238E27FC236}">
                <a16:creationId xmlns:a16="http://schemas.microsoft.com/office/drawing/2014/main" id="{0D11EDA4-7474-41E1-937C-EEDDBF28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68630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45">
                <a:solidFill>
                  <a:srgbClr val="45556C"/>
                </a:solidFill>
              </a:defRPr>
            </a:pPr>
            <a:r>
              <a:rPr sz="945">
                <a:solidFill>
                  <a:srgbClr val="45556C"/>
                </a:solidFill>
              </a:rPr>
              <a:t>Add role-based access, audit logs, privacy controls, and controlled deployment review.</a:t>
            </a:r>
          </a:p>
        </p:txBody>
      </p:sp>
      <p:sp>
        <p:nvSpPr>
          <p:cNvPr id="37" name="roadmap-footer">
            <a:extLst xmlns:a="http://schemas.openxmlformats.org/drawingml/2006/main">
              <a:ext uri="{FF2B5EF4-FFF2-40B4-BE49-F238E27FC236}">
                <a16:creationId xmlns:a16="http://schemas.microsoft.com/office/drawing/2014/main" id="{AADBD1D6-1A69-4CC5-902C-AB9F8131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817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14158"/>
                </a:solidFill>
              </a:defRPr>
            </a:pPr>
            <a:r>
              <a:rPr sz="1200" b="1">
                <a:solidFill>
                  <a:srgbClr val="314158"/>
                </a:solidFill>
              </a:rPr>
              <a:t>Positioning: this project is a strong prototype, not a production fraud engine. The roadmap shows exactly what would be needed to make it bank-grade.</a:t>
            </a:r>
          </a:p>
        </p:txBody>
      </p:sp>
    </p:spTree>
    <p:extLst>
      <p:ext uri="{BB962C8B-B14F-4D97-AF65-F5344CB8AC3E}">
        <p14:creationId xmlns:p14="http://schemas.microsoft.com/office/powerpoint/2010/main" val="195905222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3BDF1C-E9E1-4069-950A-92909074D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87B73"/>
                </a:solidFill>
              </a:defRPr>
            </a:pPr>
            <a:r>
              <a:rPr sz="1200" b="1" i="0">
                <a:solidFill>
                  <a:srgbClr val="087B73"/>
                </a:solidFill>
              </a:rPr>
              <a:t>012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98A5F1-E7FF-43AF-84BB-CA4BAF9CD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3850"/>
            <a:ext cx="828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827"/>
                </a:solidFill>
              </a:defRPr>
            </a:pPr>
            <a:r>
              <a:rPr sz="2850" b="1" i="0">
                <a:solidFill>
                  <a:srgbClr val="111827"/>
                </a:solidFill>
              </a:rPr>
              <a:t>Improvements After Feedback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D927F5-9360-49E3-8CE3-C402AC05E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3820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F6F6C"/>
                </a:solidFill>
              </a:defRPr>
            </a:pPr>
            <a:r>
              <a:rPr sz="1275" b="0" i="0">
                <a:solidFill>
                  <a:srgbClr val="5F6F6C"/>
                </a:solidFill>
              </a:rPr>
              <a:t>I used review comments to move the project from demo-quality to submission-ready.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805749-F068-447C-ADDD-05B787375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EE"/>
          </a:solidFill>
          <a:ln xmlns:a="http://schemas.openxmlformats.org/drawingml/2006/main" w="0">
            <a:solidFill>
              <a:srgbClr val="E7F0E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FF7B15-09F9-4721-B31E-AAB612542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19250"/>
            <a:ext cx="4762500" cy="3638550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81A8B0-8107-40BE-A426-1B1F9199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92405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</a:defRPr>
            </a:pPr>
            <a:r>
              <a:rPr sz="1875" b="1" i="0">
                <a:solidFill>
                  <a:srgbClr val="111827"/>
                </a:solidFill>
              </a:rPr>
              <a:t>Before feedback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13C81D-BC97-4163-9DCC-2BB53E6A3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765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87B73"/>
                </a:solidFill>
              </a:defRPr>
            </a:pPr>
            <a:r>
              <a:rPr sz="135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7D87DF-9C7D-453A-A815-785CB0104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476500"/>
            <a:ext cx="3657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The model and app worked, but the story was too product-summary focused.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4933B3-FCAC-4030-BA2D-1817E20CD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956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87B73"/>
                </a:solidFill>
              </a:defRPr>
            </a:pPr>
            <a:r>
              <a:rPr sz="135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CDF2F8-42DE-4CDA-816B-A41B0B5D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895600"/>
            <a:ext cx="3657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Some app labels were too technical or looked like buttons.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5AFFC1-B873-4976-9FF1-13D6D408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147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87B73"/>
                </a:solidFill>
              </a:defRPr>
            </a:pPr>
            <a:r>
              <a:rPr sz="135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CAAD9C-ED69-4FF9-A080-B7454726C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314700"/>
            <a:ext cx="3657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The export report was not as reviewer-friendly as it should be.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2894F0-FB2C-4973-94C2-434D1B777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338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87B73"/>
                </a:solidFill>
              </a:defRPr>
            </a:pPr>
            <a:r>
              <a:rPr sz="135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83CF40-0E7B-455B-9AD7-8B0796049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733800"/>
            <a:ext cx="3657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The first PPT did not clearly explain the journey.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080286-402D-4C59-A1CD-A9B35F118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19250"/>
            <a:ext cx="4762500" cy="3638550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DFF3E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42BC06-EEF9-4CFC-9F8A-05E4D4D7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92405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64E49"/>
                </a:solidFill>
              </a:defRPr>
            </a:pPr>
            <a:r>
              <a:rPr sz="1875" b="1" i="0">
                <a:solidFill>
                  <a:srgbClr val="064E49"/>
                </a:solidFill>
              </a:rPr>
              <a:t>After feedback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56636E-6F4A-4799-AF8C-A9EACB4B1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765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87B73"/>
                </a:solidFill>
              </a:defRPr>
            </a:pPr>
            <a:r>
              <a:rPr sz="135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DCD24D-F9A0-4EFB-8774-BAC7DE9E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476500"/>
            <a:ext cx="3657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Cleaner app wording and stronger analyst layout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BE99CD-3486-41CA-8870-410F7DE45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956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87B73"/>
                </a:solidFill>
              </a:defRPr>
            </a:pPr>
            <a:r>
              <a:rPr sz="135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F0AC29-43BF-4D2B-BCCC-92589DD48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895600"/>
            <a:ext cx="3657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Transaction search, drilldown, and CSV case export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6A8344-72BD-47F6-ABD8-00F3E10D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147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87B73"/>
                </a:solidFill>
              </a:defRPr>
            </a:pPr>
            <a:r>
              <a:rPr sz="135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8317E0-4246-4C81-BA89-F36EE5CE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314700"/>
            <a:ext cx="3657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Presenter Mode for explaining how each section was built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2B15FF-1DE0-426F-9B2D-7C2CF4547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73380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87B73"/>
                </a:solidFill>
              </a:defRPr>
            </a:pPr>
            <a:r>
              <a:rPr sz="1350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DCB002-D0FF-4025-9EE1-0BB39A73A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733800"/>
            <a:ext cx="3657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Journey-based PPT and professional written report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FF8734-7BE9-40E6-8473-2F02B358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7531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064E49"/>
                </a:solidFill>
              </a:defRPr>
            </a:pPr>
            <a:r>
              <a:rPr sz="1650" b="1" i="0">
                <a:solidFill>
                  <a:srgbClr val="064E49"/>
                </a:solidFill>
              </a:rPr>
              <a:t>This shows improvement, ownership, and the ability to respond to stakeholder feedback.</a:t>
            </a:r>
          </a:p>
        </p:txBody>
      </p:sp>
    </p:spTree>
    <p:extLst>
      <p:ext uri="{BB962C8B-B14F-4D97-AF65-F5344CB8AC3E}">
        <p14:creationId xmlns:p14="http://schemas.microsoft.com/office/powerpoint/2010/main" val="6671844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468402-2F43-470E-AC59-F8793156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87B73"/>
                </a:solidFill>
              </a:defRPr>
            </a:pPr>
            <a:r>
              <a:rPr sz="1200" b="1" i="0">
                <a:solidFill>
                  <a:srgbClr val="087B73"/>
                </a:solidFill>
              </a:rPr>
              <a:t>013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5A4E96-C27C-4395-9064-EFAE1DE7A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3850"/>
            <a:ext cx="828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11827"/>
                </a:solidFill>
              </a:defRPr>
            </a:pPr>
            <a:r>
              <a:rPr sz="2850" b="1" i="0">
                <a:solidFill>
                  <a:srgbClr val="111827"/>
                </a:solidFill>
              </a:rPr>
              <a:t>Final Conclusion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76F098-7EFB-450D-877B-78F942C77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83820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F6F6C"/>
                </a:solidFill>
              </a:defRPr>
            </a:pPr>
            <a:r>
              <a:rPr sz="1275" b="0" i="0">
                <a:solidFill>
                  <a:srgbClr val="5F6F6C"/>
                </a:solidFill>
              </a:rPr>
              <a:t>The finished project demonstrates analytics, business judgement, deployment, and governance.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A2B54F-4B5C-4AA8-8184-E66919B05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EE"/>
          </a:solidFill>
          <a:ln xmlns:a="http://schemas.openxmlformats.org/drawingml/2006/main" w="0">
            <a:solidFill>
              <a:srgbClr val="E7F0E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E7A1B0-AE2B-4CE4-A089-BDF337491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4953000" cy="3390900"/>
          </a:xfrm>
          <a:prstGeom xmlns:a="http://schemas.openxmlformats.org/drawingml/2006/main" prst="roundRect">
            <a:avLst>
              <a:gd name="adj" fmla="val 22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3F5675-51E8-45AD-A7A4-E42821021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9050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11827"/>
                </a:solidFill>
              </a:defRPr>
            </a:pPr>
            <a:r>
              <a:rPr sz="1950" b="1" i="0">
                <a:solidFill>
                  <a:srgbClr val="111827"/>
                </a:solidFill>
              </a:rPr>
              <a:t>What I concluded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C032F5-46E4-4A6C-9459-70B707A8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19350"/>
            <a:ext cx="4286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111827"/>
                </a:solidFill>
              </a:defRPr>
            </a:pPr>
            <a:r>
              <a:rPr sz="1650" b="0" i="0">
                <a:solidFill>
                  <a:srgbClr val="111827"/>
                </a:solidFill>
              </a:rPr>
              <a:t>A fraud model is most valuable when it helps a bank answer: which cases should be reviewed first, why are they risky, how many false positives will we create, and what controls are needed before use?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356620-132C-450E-912D-57B4AE0FE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67150"/>
            <a:ext cx="428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064E49"/>
                </a:solidFill>
              </a:defRPr>
            </a:pPr>
            <a:r>
              <a:rPr sz="1800" b="1" i="0">
                <a:solidFill>
                  <a:srgbClr val="064E49"/>
                </a:solidFill>
              </a:rPr>
              <a:t>That is why my final output is a control tower, not only a prediction notebook.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71F6D5-AE64-4265-8D01-D3ACA5814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600200"/>
            <a:ext cx="4762500" cy="3390900"/>
          </a:xfrm>
          <a:prstGeom xmlns:a="http://schemas.openxmlformats.org/drawingml/2006/main" prst="roundRect">
            <a:avLst>
              <a:gd name="adj" fmla="val 2247"/>
            </a:avLst>
          </a:prstGeom>
          <a:solidFill xmlns:a="http://schemas.openxmlformats.org/drawingml/2006/main">
            <a:srgbClr val="DFF3EF"/>
          </a:solidFill>
          <a:ln xmlns:a="http://schemas.openxmlformats.org/drawingml/2006/main" w="9525">
            <a:solidFill>
              <a:srgbClr val="CBDAD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F0BD1E-2EFF-45F2-BB5F-AAD109A42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9050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64E49"/>
                </a:solidFill>
              </a:defRPr>
            </a:pPr>
            <a:r>
              <a:rPr sz="1950" b="1" i="0">
                <a:solidFill>
                  <a:srgbClr val="064E49"/>
                </a:solidFill>
              </a:rPr>
              <a:t>What I would do next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857133-5DE9-4C40-9990-DC46D18FF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1935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87B73"/>
                </a:solidFill>
              </a:defRPr>
            </a:pPr>
            <a:r>
              <a:rPr sz="1275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199738-0A30-4ADF-9382-003AAB02B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419350"/>
            <a:ext cx="3657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Calibrate probabilities with real production-like data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B4708F-846F-4FE5-AE1A-5E42807BC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80035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87B73"/>
                </a:solidFill>
              </a:defRPr>
            </a:pPr>
            <a:r>
              <a:rPr sz="1275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D2413C-D96C-445E-9EB0-AA258AFD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00350"/>
            <a:ext cx="3657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Add real SHAP explanations for model-level rigor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CF4AAE-BF2F-4AC5-B17F-236CA68B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8135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87B73"/>
                </a:solidFill>
              </a:defRPr>
            </a:pPr>
            <a:r>
              <a:rPr sz="1275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F6F463-C49B-492C-81F3-D63D73A8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181350"/>
            <a:ext cx="3657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Monitor segment performance by country, channel, and amount band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CBB279-30D6-41AD-BFCC-F5697C1E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6235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87B73"/>
                </a:solidFill>
              </a:defRPr>
            </a:pPr>
            <a:r>
              <a:rPr sz="1275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0012F6-E155-4B1F-B7CD-A8A83823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562350"/>
            <a:ext cx="3657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Run the model in shadow mode before any customer-impacting use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B3C8E5-B5D7-4CEE-995E-E7636064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43350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87B73"/>
                </a:solidFill>
              </a:defRPr>
            </a:pPr>
            <a:r>
              <a:rPr sz="1275" b="1" i="0">
                <a:solidFill>
                  <a:srgbClr val="087B73"/>
                </a:solidFill>
              </a:rPr>
              <a:t>-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6FC39F-2759-42E5-B192-59DC63A7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943350"/>
            <a:ext cx="3657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11827"/>
                </a:solidFill>
              </a:defRPr>
            </a:pPr>
            <a:r>
              <a:rPr sz="1275" b="0" i="0">
                <a:solidFill>
                  <a:srgbClr val="111827"/>
                </a:solidFill>
              </a:rPr>
              <a:t>Collect investigator feedback and retrain when patterns drift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D00185-F747-4426-9B73-A52C1FF0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62600"/>
            <a:ext cx="9334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064E49"/>
          </a:solidFill>
          <a:ln xmlns:a="http://schemas.openxmlformats.org/drawingml/2006/main" w="9525">
            <a:solidFill>
              <a:srgbClr val="064E4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547043-6798-4CBB-BAFE-96C52098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705475"/>
            <a:ext cx="876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Closing line: I built this as an end-to-end fraud analytics project, from data cleaning to a governed investigator workflow.</a:t>
            </a:r>
          </a:p>
        </p:txBody>
      </p:sp>
    </p:spTree>
    <p:extLst>
      <p:ext uri="{BB962C8B-B14F-4D97-AF65-F5344CB8AC3E}">
        <p14:creationId xmlns:p14="http://schemas.microsoft.com/office/powerpoint/2010/main" val="14249083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2026-06-22T00:08:16.2630000Z</dcterms:created>
  <dcterms:modified xsi:type="dcterms:W3CDTF">2026-06-22T00:08:16.2630000Z</dcterms:modified>
</coreProperties>
</file>