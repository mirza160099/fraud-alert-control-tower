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5183220344323" /><Relationship Type="http://schemas.openxmlformats.org/officeDocument/2006/relationships/extended-properties" Target="/docProps/app.xml" Id="R1d5a8fe46fe34193" /><Relationship Type="http://schemas.openxmlformats.org/officeDocument/2006/relationships/officeDocument" Target="/ppt/presentation.xml" Id="R2948e713d45148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07673087b54316"/>
  </p:sldMasterIdLst>
  <p:notesMasterIdLst>
    <p:notesMasterId xmlns:r="http://schemas.openxmlformats.org/officeDocument/2006/relationships" r:id="Rd1faacdc1dab451b"/>
  </p:notesMasterIdLst>
  <p:sldIdLst>
    <p:sldId xmlns:r="http://schemas.openxmlformats.org/officeDocument/2006/relationships" id="256" r:id="R3bc33878f752492c"/>
    <p:sldId xmlns:r="http://schemas.openxmlformats.org/officeDocument/2006/relationships" id="257" r:id="R1fbd2284ca7e43b9"/>
    <p:sldId xmlns:r="http://schemas.openxmlformats.org/officeDocument/2006/relationships" id="258" r:id="R63a1e7cfe61848aa"/>
    <p:sldId xmlns:r="http://schemas.openxmlformats.org/officeDocument/2006/relationships" id="259" r:id="R895a2de926c344d4"/>
    <p:sldId xmlns:r="http://schemas.openxmlformats.org/officeDocument/2006/relationships" id="260" r:id="R4dd46cedcc8d4856"/>
    <p:sldId xmlns:r="http://schemas.openxmlformats.org/officeDocument/2006/relationships" id="261" r:id="R8ea4c693a5f84531"/>
    <p:sldId xmlns:r="http://schemas.openxmlformats.org/officeDocument/2006/relationships" id="262" r:id="R2bf01963bc594d9d"/>
    <p:sldId xmlns:r="http://schemas.openxmlformats.org/officeDocument/2006/relationships" id="263" r:id="R2856072f320e497a"/>
    <p:sldId xmlns:r="http://schemas.openxmlformats.org/officeDocument/2006/relationships" id="264" r:id="Ra918cdc5c2194e45"/>
    <p:sldId xmlns:r="http://schemas.openxmlformats.org/officeDocument/2006/relationships" id="265" r:id="Ra5ddd9c6f82142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7673087b54316" /><Relationship Type="http://schemas.openxmlformats.org/officeDocument/2006/relationships/theme" Target="/ppt/theme/theme1.xml" Id="R7e09c71536ba40c8" /><Relationship Type="http://schemas.openxmlformats.org/officeDocument/2006/relationships/notesMaster" Target="/ppt/notesMasters/notesMaster1.xml" Id="Rd1faacdc1dab451b" /><Relationship Type="http://schemas.openxmlformats.org/officeDocument/2006/relationships/presProps" Target="/ppt/presProps.xml" Id="R9ce7fcb1d9274438" /><Relationship Type="http://schemas.openxmlformats.org/officeDocument/2006/relationships/viewProps" Target="/ppt/viewProps.xml" Id="R5dac62ca12e542c9" /><Relationship Type="http://schemas.openxmlformats.org/officeDocument/2006/relationships/tableStyles" Target="/ppt/tableStyles.xml" Id="Re490219867d64888" /><Relationship Type="http://schemas.openxmlformats.org/officeDocument/2006/relationships/slide" Target="/ppt/slides/slide1.xml" Id="R3bc33878f752492c" /><Relationship Type="http://schemas.openxmlformats.org/officeDocument/2006/relationships/slide" Target="/ppt/slides/slide2.xml" Id="R1fbd2284ca7e43b9" /><Relationship Type="http://schemas.openxmlformats.org/officeDocument/2006/relationships/slide" Target="/ppt/slides/slide3.xml" Id="R63a1e7cfe61848aa" /><Relationship Type="http://schemas.openxmlformats.org/officeDocument/2006/relationships/slide" Target="/ppt/slides/slide4.xml" Id="R895a2de926c344d4" /><Relationship Type="http://schemas.openxmlformats.org/officeDocument/2006/relationships/slide" Target="/ppt/slides/slide5.xml" Id="R4dd46cedcc8d4856" /><Relationship Type="http://schemas.openxmlformats.org/officeDocument/2006/relationships/slide" Target="/ppt/slides/slide6.xml" Id="R8ea4c693a5f84531" /><Relationship Type="http://schemas.openxmlformats.org/officeDocument/2006/relationships/slide" Target="/ppt/slides/slide7.xml" Id="R2bf01963bc594d9d" /><Relationship Type="http://schemas.openxmlformats.org/officeDocument/2006/relationships/slide" Target="/ppt/slides/slide8.xml" Id="R2856072f320e497a" /><Relationship Type="http://schemas.openxmlformats.org/officeDocument/2006/relationships/slide" Target="/ppt/slides/slide9.xml" Id="Ra918cdc5c2194e45" /><Relationship Type="http://schemas.openxmlformats.org/officeDocument/2006/relationships/slide" Target="/ppt/slides/slide10.xml" Id="Ra5ddd9c6f82142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c2ca86ec49d41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ce94230bd744d7" /><Relationship Type="http://schemas.openxmlformats.org/officeDocument/2006/relationships/notesMaster" Target="/ppt/notesMasters/notesMaster1.xml" Id="R133c2a65326a4f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95d75a5a7444f1" /><Relationship Type="http://schemas.openxmlformats.org/officeDocument/2006/relationships/notesMaster" Target="/ppt/notesMasters/notesMaster1.xml" Id="R600b5e573e0c4d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f774f2e0774716" /><Relationship Type="http://schemas.openxmlformats.org/officeDocument/2006/relationships/notesMaster" Target="/ppt/notesMasters/notesMaster1.xml" Id="R2be3e1c04b3b4e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af82e3975f45cf" /><Relationship Type="http://schemas.openxmlformats.org/officeDocument/2006/relationships/notesMaster" Target="/ppt/notesMasters/notesMaster1.xml" Id="Re7e9220e204b4e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d0393885534475" /><Relationship Type="http://schemas.openxmlformats.org/officeDocument/2006/relationships/notesMaster" Target="/ppt/notesMasters/notesMaster1.xml" Id="R068bf9f9765f4a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fc906398d04165" /><Relationship Type="http://schemas.openxmlformats.org/officeDocument/2006/relationships/notesMaster" Target="/ppt/notesMasters/notesMaster1.xml" Id="R44c4b08caf3c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6d0ac05b7f4a43" /><Relationship Type="http://schemas.openxmlformats.org/officeDocument/2006/relationships/notesMaster" Target="/ppt/notesMasters/notesMaster1.xml" Id="R48bf358c310345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2984209a3740d2" /><Relationship Type="http://schemas.openxmlformats.org/officeDocument/2006/relationships/notesMaster" Target="/ppt/notesMasters/notesMaster1.xml" Id="Rfae82881972a4e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6005f573bf4a26" /><Relationship Type="http://schemas.openxmlformats.org/officeDocument/2006/relationships/notesMaster" Target="/ppt/notesMasters/notesMaster1.xml" Id="R8ea93aeeccb342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6ba04ad4214322" /><Relationship Type="http://schemas.openxmlformats.org/officeDocument/2006/relationships/notesMaster" Target="/ppt/notesMasters/notesMaster1.xml" Id="Reda4af375d4746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9c2b8294d4d9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91c3e1eca1d4fd5" /><Relationship Type="http://schemas.openxmlformats.org/officeDocument/2006/relationships/slideLayout" Target="/ppt/slideLayouts/slideLayout2.xml" Id="R5df20756ad6c46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f20756ad6c46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1416afdd20477b" /><Relationship Type="http://schemas.openxmlformats.org/officeDocument/2006/relationships/image" Target="/ppt/media/image.jpeg" Id="Re330a6559caa4fd0" /><Relationship Type="http://schemas.openxmlformats.org/officeDocument/2006/relationships/notesSlide" Target="/ppt/notesSlides/notesSlide1.xml" Id="R111db47bde0244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d991e8aa994461" /><Relationship Type="http://schemas.openxmlformats.org/officeDocument/2006/relationships/notesSlide" Target="/ppt/notesSlides/notesSlide2.xml" Id="R355a8a32543645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7c931288a4e97" /><Relationship Type="http://schemas.openxmlformats.org/officeDocument/2006/relationships/notesSlide" Target="/ppt/notesSlides/notesSlide3.xml" Id="Rd9f0c54f717646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c44e41d06c42cd" /><Relationship Type="http://schemas.openxmlformats.org/officeDocument/2006/relationships/notesSlide" Target="/ppt/notesSlides/notesSlide4.xml" Id="R7fc6e841841148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10fd53c977400b" /><Relationship Type="http://schemas.openxmlformats.org/officeDocument/2006/relationships/notesSlide" Target="/ppt/notesSlides/notesSlide5.xml" Id="Rb7a631b721bf43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f515f88e654a68" /><Relationship Type="http://schemas.openxmlformats.org/officeDocument/2006/relationships/notesSlide" Target="/ppt/notesSlides/notesSlide6.xml" Id="Rde38b56e58ae44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d5a37e98474fbb" /><Relationship Type="http://schemas.openxmlformats.org/officeDocument/2006/relationships/image" Target="/ppt/media/image2.jpeg" Id="Rc6af02e6dd944aec" /><Relationship Type="http://schemas.openxmlformats.org/officeDocument/2006/relationships/notesSlide" Target="/ppt/notesSlides/notesSlide7.xml" Id="R0757c1c0639646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c290aae8cf4aa1" /><Relationship Type="http://schemas.openxmlformats.org/officeDocument/2006/relationships/image" Target="/ppt/media/image3.jpeg" Id="Rdf0506ea7ef24986" /><Relationship Type="http://schemas.openxmlformats.org/officeDocument/2006/relationships/notesSlide" Target="/ppt/notesSlides/notesSlide8.xml" Id="Rfd7fd330390c4e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c793ce6bf243b5" /><Relationship Type="http://schemas.openxmlformats.org/officeDocument/2006/relationships/image" Target="/ppt/media/image4.jpeg" Id="Rde7bc1defdec4a45" /><Relationship Type="http://schemas.openxmlformats.org/officeDocument/2006/relationships/notesSlide" Target="/ppt/notesSlides/notesSlide9.xml" Id="R367b337dbfbd47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83c3d5478a4b0d" /><Relationship Type="http://schemas.openxmlformats.org/officeDocument/2006/relationships/notesSlide" Target="/ppt/notesSlides/notesSlide10.xml" Id="Rbaa1cfbd4b4447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6B9EBD-E718-4506-8B5D-4B297F9A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3184E-CD2C-45B0-8806-DC998486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51D34-803F-4CD8-B141-EB4E5822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FINAL 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FE169-BD82-4857-A9C6-CE8C8D28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Fraud Alert Control Tower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CF690-2E8A-4F4F-8D70-9025E4E5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8115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A fraud-operations decision-support layer that scores transactions, prioritizes investigator queues, explains risk drivers, and documents governance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4A328-2677-44BA-9A6A-0B640904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055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0a6559caa4fd0"/>
          <a:stretch xmlns:a="http://schemas.openxmlformats.org/drawingml/2006/main"/>
        </p:blipFill>
        <p:spPr>
          <a:xfrm xmlns:a="http://schemas.openxmlformats.org/drawingml/2006/main">
            <a:off x="7417543" y="685800"/>
            <a:ext cx="3357665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A6C82-047C-400C-BD5E-6A35D180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576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F9AF2-3CFB-451F-A50E-FFEDB97F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5,000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72FE4-3612-481E-87A0-7A4A772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transactions profiled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A9AE9-DDB4-44D1-88AD-022DA079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576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1C3FD-FF45-4BF8-9559-1DCCDE2F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90975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2590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590A"/>
                </a:solidFill>
                <a:latin typeface="Aptos"/>
                <a:ea typeface="Aptos"/>
                <a:cs typeface="Aptos"/>
              </a:rPr>
              <a:t>4.02%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38E50-4900-4955-AB05-63864E4A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100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raw fraud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8B6D6-E9C3-4A90-84A8-6A1A0166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576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FD81E-B7C9-483B-AE95-4D817F6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0.7977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F08AC-51E4-443F-A789-2E8D99C6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100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review threshold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730DA-C27D-4C3C-B847-A0EE7721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576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E6A73-EDAE-406F-A1EC-596CBEE3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90975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4 tabs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2D9CA-9A2A-4B4A-AB94-712BC2F3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00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deployed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DF951-4B76-486A-BB6F-86CB90DC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19700"/>
            <a:ext cx="971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Positioning: synthetic-data capstone, not affiliated with JPMorgan Chase, not production-approved.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AC260D-7072-42B2-89B6-09A4B97F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Source: final GitHub repo, Vercel app, governance docs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32C09-3933-4A3B-8F73-E031F82F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14398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D8424-9AB2-4887-87FE-A10EADD6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CDFC0-B9D4-4774-979E-E9B8B1CE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DC731-5040-4337-8CC7-FEB0DBF1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BUSINESS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2216C-BBED-4608-B346-4C088A14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Fraud review is constrained by investigator capacity.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177B8-744E-4AFE-A18E-817D3818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The task is not just predicting fraud. It is deciding which transactions deserve scarce human review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AE9DE-BB50-45E4-B494-ED179F2A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9970D-105B-4626-A5E5-B02EAA58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ED999-6B2A-4410-A302-BEC84155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baseline reviews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7E0C4-96ED-4AF5-9B46-D79EFEC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527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88DED-4401-4B4C-A2FA-4A205264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A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7A4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48878-05D9-4B15-BC3A-8BEB2CE7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frauds caught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82B8E-773F-4B2B-8369-55BE417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88AAE-5231-4F67-BF2E-6E9F4469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3B876-B3CE-41EA-82AE-CD2CA75F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frauds missed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91AFF-F07B-4118-B672-6AA25D14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476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9139-33AC-49E4-B84A-9EC3E1AA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193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Baseline alert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C8FCF-32C4-498A-A803-EA2CC016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24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Hit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91072-551D-4524-858B-3A703F13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285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5E748-D877-4ABB-9A6D-522B09DA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46805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653D8-3EA6-4569-9A29-6EEFBCCF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105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7A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7A45"/>
                </a:solidFill>
                <a:latin typeface="Aptos"/>
                <a:ea typeface="Aptos"/>
                <a:cs typeface="Aptos"/>
              </a:rPr>
              <a:t>36.4%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B7C3A-EB41-40D0-B1E3-5B46D534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480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Fraud capture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6E5FA-16DC-4F7F-B819-E0EA554D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05225"/>
            <a:ext cx="1285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41891-9B91-4226-A7D0-28FD05AE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05225"/>
            <a:ext cx="25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C0BAC-43B4-47B9-B680-84922424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6290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2590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590A"/>
                </a:solidFill>
                <a:latin typeface="Aptos"/>
                <a:ea typeface="Aptos"/>
                <a:cs typeface="Aptos"/>
              </a:rPr>
              <a:t>20.0%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DC8FF-64C8-4674-B1D1-E70D221A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Missed fraud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B44918-EC31-42FF-AE49-B32CE1EC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29100"/>
            <a:ext cx="1285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185E09-29BB-4541-B478-0526D6FE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29100"/>
            <a:ext cx="1028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12765-9281-40F9-A4C3-746570B6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152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8E4522-DF6C-4C6C-8584-00A1AD15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0F639-1D4F-4652-9F21-47DBBF3D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561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The baseline rule is precise but selective.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90604D-29B1-4B85-AFC0-0BB46660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FA4F8-15AA-413D-9258-AC385FC7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561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The risk triage layer is designed to surface additional suspicious cases.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819851-C3A6-4770-AB8A-29EB52A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FDD826-C4DF-4EAA-94BE-5F5FD7AA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53075"/>
            <a:ext cx="561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The final decision remains with human investigators.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4FE8E4-0F5A-4FAE-BD51-86B7FE2E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Source: held-out test set and threshold strategy memo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CE331A-5D48-44EC-92A3-6ECE88D4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17742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B5D675-FDE9-4EF4-A6C2-A2F263E4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FEAA2-C342-4A9B-A4CA-422CCEB1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B69A5-FBE5-4952-BFC9-4790A15A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DATA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E79A1-CB2E-4279-BC58-92693A44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The pipeline turns raw files into a controlled analytic 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40980-BC36-417C-B820-6D27BE34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Cleaning, joins, and leakage prevention came before any modeling.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8F0DF-670A-44AC-820B-81C1E1C0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7E365-6204-40F0-B5E8-6CB17AAA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3AA3A-247A-4A24-B1B8-CC8B8B26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BD612-7567-46AD-AC9C-B74A9460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5153A-35F0-4271-B2B4-D6D1D32C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Transactions, customers, and merchants are read at transaction grain.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3E115-3251-4C14-8645-EB41D461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AB063-CBFD-4563-82F9-CB155545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050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6629B-8339-47D9-8313-1F880D3D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431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8BB16-3824-4E14-8D38-D975EDEE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955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A2BC3-3607-404D-9B77-6120984C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86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Timestamp parsing, country normalization, broken tenure flags, and missing profile flags.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66F31-C145-4305-A42D-9A4F316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825DF-A450-4819-9DB8-1A0E47ED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050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284E9-9DC8-4B2A-A196-DABDC9FA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431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44E6C-57CB-41C8-9DCA-D2D00E59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955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Join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C2DA1-DF69-4C9A-BADC-3362F3C5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86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Customer and merchant profiles are left joined without dropping unmatched transactions.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99AFE-1C8F-4961-93B2-E44B7DB5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FB473-2800-49AE-82E1-C2E25830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050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0FC5A-6D6D-4C95-9978-7AC23BA0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E2276-88AB-43FA-A97A-1C5318C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955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Engineer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48C9CB-355C-45FA-AF8C-24D0AD6F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86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Hour, weekend, amount_log1p, cross-border and distance-based behavior signals.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F95B57-9401-42FF-9357-6D43A084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33625"/>
            <a:ext cx="1714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BAC8B-883A-4325-A75B-AD4D17CA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050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069E77-65FE-47F2-A731-F828A1FB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431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AC3447-34AF-46AC-A497-1A94E73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955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C8F41-EE57-4EF9-B2DC-9B63A5D8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8607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IDs, target fields, and historical alert outputs are excluded.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A95E53-B864-40E1-9E6D-16E86FFC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6AFDCC-3097-41C3-B5BE-B988B2FA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Data-cleaning choices I would explain in the interview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D697C5-2A56-48DE-8604-92039F38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2E2119-7256-40D7-9EC7-FDCBC900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9334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I preserved missing joins with flags instead of silently deleting rows.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11E2EA-2CFE-4A45-8F7C-3FF2F216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5F94B9-CAC1-4257-9088-19370CA1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334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I treated broken tenure values as a data-quality issue, not as valid customer history.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DD5AE7-3B98-4A99-8393-E2C0CC92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CED5A3-7D25-481C-AFC4-8A57F039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9334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I removed leakage so the model could not learn from labels or prior alerts.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BA74D3-B805-4E06-B883-474922D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Source: Step 2 modeling pipeline and progress reports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2D0A73-4F59-4AE7-BFA0-28D947FD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11514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E5BFF-8721-43AE-AA3F-BF006B9E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14724-AEAE-485C-8CE0-281C25F0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65F66-2DDF-4EA2-8122-63C165AF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FEATURE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2BB96-A4C5-488B-9875-B81A1D3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The final model uses explainable risk signals, not hidden black-box inputs.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40FAB-0DF8-44F1-A625-DE7C013D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Top features were selected on training data only, then translated into reviewer-friendly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5DBD0-61A7-4C10-A94B-C64582F0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36E38-90A3-4547-8E05-3944CD48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8E2F9-BE47-4130-A91A-1CD22182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193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Selected 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CBCD3-C03A-4BE0-8D19-AA483969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765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68C71-28EC-4629-AEF4-015188E7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3C2B3-936B-418F-BC8C-2968F39C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622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geo_distance_km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05216-5D0E-4579-AD82-7C286BF9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F5C00-E6A6-4CA2-B0E2-51E4F0F9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D247A-0A8A-4825-BE7E-32123260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051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txn_country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7F4C3-DDD2-46D9-BDBF-DBC2F71A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623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9CEA2-C0F1-45DA-A369-696D8549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13498-76A5-4895-8257-970F518A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480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synthetic_identity_score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D4FA9-245D-46F6-9552-73B26751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842C0-A5F2-4887-9F91-C39CCEF8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B4C2C-1896-41AB-8186-EAC18713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909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merchant_risk_score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9557B-B558-493D-9F93-31C1CC23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10375-EB59-408B-926F-9D95294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338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84BF0-9C5B-4B09-B4C9-9D9458AA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338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9D4A9-5319-4B54-9FC2-0286F823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910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1C56A-4DFC-4357-924A-BEDF4DB5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F57A9-9B4B-414E-AF13-E5A00D40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767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txn_hour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B7CFEF-4E8A-44E2-9F23-020F431D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339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9845D-BB56-4551-8ABA-20724E4E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536DA-E6F1-415E-A615-E4982D12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196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device_risk_score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DF85C9-A56B-4F1C-A9D1-F4ED2A83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768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8F692F-2817-44D1-92E9-ADE857B3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30678-117C-4FC2-A37C-1F6031FC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625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merchant_profile_risk_score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656ADC-8B32-4891-A6BE-D5403C20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97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393588-AB30-4EAB-87B9-E38A1913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72A1DF-2830-4D3E-B101-22D984C9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054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transaction_amount_usd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52AA8D-E386-4CD1-A627-2BDA5C96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6262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4E27AD-FAA0-4577-A140-0A9899F1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5F8310-72DD-4343-9B0F-15512573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483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amount_log1p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EDE9F4-A5D7-41E6-A867-593CC6F2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C7A872-62C3-4079-A804-51FA36B0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Material drivers visible in the app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D74050-8FA9-45A9-8346-2B2B80FB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Weak near-zero global rows were removed from the public view so reviewers see the strongest operating signals.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0962C4-5791-4F98-AF4A-3677FBF1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Geographic distance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684A05-721C-4006-9A0E-E33A1B40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68428F-CA52-4CA5-B406-0803AA3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EAC188-D70A-400B-9406-5AAD32AA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814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0.081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9459B2-9340-4220-A484-B680EC7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Payment channel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4395B0-785C-4069-B5A8-B710C0E1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338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B782E1-B3A5-463C-A8A0-3F89384A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33850"/>
            <a:ext cx="30765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FDD82C-59B0-4C64-989F-D17C66B6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576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0.014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728475-EE5A-4227-8FA0-E9E4568D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Log-scaled amount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597226-1CE5-4A16-90C6-075E3B80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01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4F030D-51B9-4FC5-8CEE-A155152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0100"/>
            <a:ext cx="30765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2399BD-6195-487F-B045-F4EBFC17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33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0.014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AFBEDD-E611-4E8C-B1D5-DC91EEA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Transaction hour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320473-38EF-4098-AD59-1C573983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863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527132-AE4E-488C-AD27-4102037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86350"/>
            <a:ext cx="7239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293E08-D9A4-4780-8128-6955ED8B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10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2590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590A"/>
                </a:solidFill>
                <a:latin typeface="Aptos"/>
                <a:ea typeface="Aptos"/>
                <a:cs typeface="Aptos"/>
              </a:rPr>
              <a:t>0.003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CB9307-F7BE-4260-A637-CAE200EA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Source: mutual information feature selection and app Metrics tab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92D421-67E1-4371-85A2-D39E0A6A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37649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7C54C-3BAE-427C-9CB6-FCB2949C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C27E5-A330-45CA-B9BB-F88E5691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8470F-3ABF-47B3-9F37-7CE57B44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RISK TRIAGE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4D40D-0AD3-4E1C-B632-806950AB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The score becomes a priority tier, an action, and a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282D5-FB3E-45B7-919D-6BA6458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The deployed app uses exported model JSON so the demo runs without Streamlit or a Python server.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11F27-763B-4D47-B2B8-2362DB8D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D7A27-BF2D-4DE3-9589-7FF17307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2CDAA-A6AB-4958-8B71-79AF22DB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1ED7D-2647-4FA1-BC90-AF62CA68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User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4FF0D-F84B-4F12-BE6C-84D9E6B3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Amount, currency, country, channel, hour, distance, and risk scores.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55615-E9F8-4308-B272-20C876CF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622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FD928-937C-4485-8F9C-2D0FC16F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ADC11-FFD9-4950-99F8-A3256921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72017-F092-47ED-9F29-05C1961E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241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Preprocess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0F108-AB89-4969-91E6-B6501436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46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Currency conversion, log amount, feature mapping, and reference profile.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545B3-5E01-4036-A488-A894E735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44709-FF0B-43DE-95B7-2B4C342B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35B0A-FD5D-454A-9D6F-B293626E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FF474-A7BA-4032-81C2-DC1C5ADB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241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4950E-69DD-4C19-8AF5-5F8C63C3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Risk triage engine converts weighted evidence into a probability-like risk score.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582C3-50C5-49BA-8132-C78A16A6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70DB6-E1F6-4D8D-9CBB-D63CCA5D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C1FAA-CF67-4685-91C2-479FB921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912AF-B679-41A3-896A-821AD01F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241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Prioritize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3B1D6-158E-4187-BABB-6E12BAAD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146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Low, medium, high, and critical bands map to investigation actions.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CA3F3-1D3C-455C-BA33-8A5B7CD5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62200"/>
            <a:ext cx="161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452E1-DBB4-4CED-A87E-775B9098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FAF1F-A52E-417B-9C8B-26E01ABB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60B9BE-4415-412D-ABAF-480F5C5C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24125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0B8C2-8EB7-475A-BC3C-3BCFFB2E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146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Local sensitivity produces plain-English reasons.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FB3290-7E1F-45DF-8A3F-EBE8970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76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CEFB3-D4AA-4C25-860E-203001DB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Score band interpretation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D238F1-8937-4D0B-85D5-CA0AEE19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754384-30E4-456B-ACD7-378161A4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A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7A45"/>
                </a:solidFill>
                <a:latin typeface="Aptos"/>
                <a:ea typeface="Aptos"/>
                <a:cs typeface="Aptos"/>
              </a:rPr>
              <a:t>0.119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7A8B6A-61E6-433A-B393-C0D2F5DF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safe floor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FAF2BB-B45C-4EA3-B13F-47B9125B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67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DD5307-837D-4BA3-9801-FD81FF15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00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2590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590A"/>
                </a:solidFill>
                <a:latin typeface="Aptos"/>
                <a:ea typeface="Aptos"/>
                <a:cs typeface="Aptos"/>
              </a:rPr>
              <a:t>0.350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9E6B74-8421-4033-91BD-A08AEAC9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medium watch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191850-6149-4CC5-91DF-719EB39D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67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97C091-639A-44E2-945C-57EDA128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00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0.7977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E13474-82C5-4F88-BF9B-3865CE03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197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review threshold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83C0B3-27E3-4C0B-A340-972F900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67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BBF4D1-7215-4EEE-A062-054E0B9E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0.820+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272000-0904-4F9B-8462-CAD329C0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critical review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517722-B2CA-4771-BA78-2AA76467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815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Important: this is a triage score for ranking and review, not an automatic blocking decision.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D8068B-3E7C-4CC8-A63F-973C0172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Source: exported model JSON and Vercel app scoring logic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01FDB5-29DB-4C5E-B74A-34D4BB8F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64462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07057E-1960-4DDF-BB02-8D1E797E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BFF18-FD99-420E-ACB2-FC41207A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3D6EC-D456-4168-ADF8-19DCC09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THRESHOLD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0AA82-AE39-44C3-A3B5-E4118089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The threshold is a staffing and control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1684B-1D38-44CA-AA64-216272A1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The selected policy balances fraud capture, queue precision, and review volume.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84BCF-B2E4-4BCF-8421-19382E01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5D54C-A44C-4B0C-B66C-95443B68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0.7977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192D7-6615-4760-924E-7675CA4B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recommended threshold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30567-351A-438F-92CC-D902B58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81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56A4A-18E9-47B0-B589-367AD6C8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4FFD8-4BEC-4AF8-AAE1-8D3D1376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337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test reviews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79007-440B-4B47-AE04-9C973CA6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03698-1C70-412D-92A0-7CB25A38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A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7A45"/>
                </a:solidFill>
                <a:latin typeface="Aptos"/>
                <a:ea typeface="Aptos"/>
                <a:cs typeface="Aptos"/>
              </a:rPr>
              <a:t>25.0%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10ED5-9090-42CB-B71F-AB9FECBA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337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fraud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BB3DC-3351-496E-9209-1BDD787B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35F99-DC38-4387-9A40-F38498EA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2590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590A"/>
                </a:solidFill>
                <a:latin typeface="Aptos"/>
                <a:ea typeface="Aptos"/>
                <a:cs typeface="Aptos"/>
              </a:rPr>
              <a:t>13.5%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732D0-85D4-4555-8EAC-B54FE620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queue precision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09830-2EDE-4954-A5CC-B6E193FC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3A10F-1737-4D8B-8A4D-23691B2C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B60A3-A063-4F73-B387-DEDDBBC6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481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Threshold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E2D1A-6E94-4254-8508-DD32B932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481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378F8-35C2-4426-A0D8-CEBDFF8D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Hit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10077-BE1C-4005-B34D-5D985B67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481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0A2F3-9784-4E28-87D4-6CED4EC2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05275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17A02-0F6E-4829-80A2-10DCD619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FBBE48-85D4-4276-92E9-222755A1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910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0.8118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BFAB92-84EB-41E2-A2C6-E2F8AECE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910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5D90B-AD91-4FC0-B6B8-5A1CB29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249A33-3DC4-43F0-A760-4AA32A96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910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12.5%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6D07D1-6BFF-4F90-921F-63CB3BE0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AEA03F-F3E5-4C91-B507-3B7FCAFB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493ECC-E88B-4131-AB50-3A4768FD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339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0.8087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0168AF-34A8-4666-91AC-DA5DC04C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339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91F486-25E1-48E3-AD69-262E57F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339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21.7%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8EBEFC-3F1E-4637-B8B5-2EFCE176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339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12.5%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53825B-E6CA-4215-B378-C6C3237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1B8B85-11AC-402C-9021-A5D5D944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2E726A-6074-4920-BE3E-F8070A9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768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0.7977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7971EA-8DEB-40DF-9654-AD124366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768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CD54E6-EF3F-4DDB-A23A-1A15316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768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13.5%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DE7C5A-DAAB-4517-B0A1-224EA854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768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25.0%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EF049E-885A-4BB7-BB93-EDE91842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936168-20FF-4589-9A55-9EF193A9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7B9100-A5CE-4BA0-BEFA-7160995A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197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0.5742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5F7C38-211A-4DC3-B676-F0723678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197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102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52ECF4-B9AA-4768-BB12-CEFC8760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197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12.7%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33131F-A5A6-468B-A575-9B2A46E3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197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32.5%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12BE2F-8B0B-44FB-855E-6083D299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F4FCBF-5764-483C-AC12-332EA3D7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C272A9-1FBC-4C34-9A63-437EF763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626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0.5571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5C6C69-BA87-46AD-B298-6B68C26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626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164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DE83EF-BC57-41CB-BA00-E218418D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626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9.8%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FA891E-DED7-4D90-ACB7-FA62664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5626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E4D65E-F617-4A48-8476-0B37202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4000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543E35-35F5-4DF3-AE40-3D57816C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AEDCDC-45CF-433D-8476-D31AB5A0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52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Review load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C54E02-509C-4BE9-866B-0108B06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904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A8CB57-112C-43D3-901B-37C151C7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66960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F8ABFC-A668-4637-BCD4-E6A5D24A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533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7.4%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6296B6-38D8-4852-AC84-B3481879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False positives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85B3A9-5A27-42AD-9480-DB910D51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86350"/>
            <a:ext cx="904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A12C9C-AB8D-4E44-A5E6-5EF20EC0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86350"/>
            <a:ext cx="5791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8A6F56-4272-4454-A346-DEB9D7C8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010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2590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590A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CFBC5F-DA77-494C-B073-6EAE089D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The app shows this openly so the reviewer sees a business-control decision, not a hidden model claim.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0B667E2-B044-42F3-9761-F84223A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Source: threshold strategy memo and capacity threshold table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C881106-44CA-462C-95FD-0D4AB848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2675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2F5110-3C7B-49EB-BD53-4346D277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02FDC-05DE-445C-820B-7D7CFA98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B69D2-5093-4A1B-8B89-0411A3A2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PREDICTION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C9EC1-C22F-4B24-A309-7A8B5F73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The Vercel app turns the model into a usable investigator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8CBEA-EC36-4A85-B8B4-5E3CC8C3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A reviewer can enter transaction details and receive a risk tier, probability, action, reasons, and next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B6987-8DFD-4E2C-B28E-05015B03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5810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f02e6dd944aec"/>
          <a:stretch xmlns:a="http://schemas.openxmlformats.org/drawingml/2006/main"/>
        </p:blipFill>
        <p:spPr>
          <a:xfrm xmlns:a="http://schemas.openxmlformats.org/drawingml/2006/main">
            <a:off x="1497748" y="2476500"/>
            <a:ext cx="3805354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9C13B-9890-40D6-8C13-DB98DB5D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C3F21-1DB2-4A94-9532-12C108BD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What the demo 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A06FF-3517-4534-80DE-F43AEDF9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9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B099C-1BA5-45BD-94CB-AF0CE12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Inputs are practical: amount, currency, country, channel, hour, distance, device and merchant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24AEF-D849-4B7D-9A66-A57747A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67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A3B8D-CA51-4A27-9AD3-4C150E51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Outputs are operational: low, medium, high, or critical priority.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92B17-204A-4A8A-BCCB-5B1F2EB3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24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AED26-7E11-4016-9189-08E62655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The Why section explains the top local drivers.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DCA24-3D5F-4BB9-A672-05BCF622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81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97F0C-88A7-4FFE-8E36-275B75A5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The What To Do Next section gives investigator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7EF81-598B-479C-A0B3-79DF9208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38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27B08-E6D4-49F0-BEE0-3F0C9202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720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The app is static and deployable on Vercel.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00EC3-7D2A-43A3-9FEA-A5C4ECE5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Source: deployed app screenshots and app/index.html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A0A4C-AB29-4EFD-B858-A1C5078C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98997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D82025-8D51-4FBF-8112-F6435AF0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581AD-DD12-4888-8F81-9FC4FC8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3603F-1628-44AE-B6CF-E8C76049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QUEUE 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3342B-8E66-49D5-8EEE-8525858E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The control tower connects risk scores to review cost and fraud capture.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682B8-4E87-4155-9596-A3005AC2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This is the analyst layer: not just what the model predicts, but what it costs to operate.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D4EFE-0E45-40F1-A002-AFD7AEBD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5048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506ea7ef24986"/>
          <a:stretch xmlns:a="http://schemas.openxmlformats.org/drawingml/2006/main"/>
        </p:blipFill>
        <p:spPr>
          <a:xfrm xmlns:a="http://schemas.openxmlformats.org/drawingml/2006/main">
            <a:off x="1340593" y="2495550"/>
            <a:ext cx="3357665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D1398-59D8-4A5F-BCC0-E7C7E56F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0EB0B-6946-430B-AB3C-91F9FDD5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2590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590A"/>
                </a:solidFill>
                <a:latin typeface="Aptos"/>
                <a:ea typeface="Aptos"/>
                <a:cs typeface="Aptos"/>
              </a:rPr>
              <a:t>+52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11854-5056-4473-A919-781FC57A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extra reviews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FEA71-07A4-4134-BD6E-FEE14C8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54C22-EB45-491E-801B-4AE43973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A4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7A45"/>
                </a:solidFill>
                <a:latin typeface="Aptos"/>
                <a:ea typeface="Aptos"/>
                <a:cs typeface="Aptos"/>
              </a:rPr>
              <a:t>+2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59C03-DE03-44F6-93E0-E0940984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337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extra fraud caught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A0515-7E81-433E-8501-AB105BD9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42B44-BE12-4BBF-A858-847F0D70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1460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$584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7BE92-F38C-4C7A-BCFE-5A41AD9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illustrative 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C2B0B-2BED-4FD9-80A1-3091FA14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6D25A-2D9A-4D96-A08A-3C011BE8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004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37970-583E-4504-9996-E5685CD7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004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93357-B4B9-434D-9552-C34FB420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004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3AD05-CA2A-4965-8AE4-0FBE0587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004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16CEC-FA06-4AB0-B87F-4B38E4EB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7FBCD-D178-4BAF-9BD5-376BBBF4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433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Reviewed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F4147-CAAF-49F9-9A69-C6E89F83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433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46729-CA8B-4CE1-97DF-0DA47FEF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433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DD7C3-BCF8-469A-A952-5F4ECEE1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433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+52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28A00-7EA2-4AA8-94F8-094A110A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005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11347-AE99-473F-BEEE-2A50B503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862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Fraud caught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A52A7-582E-4063-A25B-D7C89B40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862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F05983-79CD-4767-94EC-320F5D12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862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A860BF-3AF9-4F7D-BFB7-8931B769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862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+2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F68E7B-9402-45A5-9CE7-1AC11562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434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B33ED7-FC18-4134-B63C-172BDFF7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291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False positives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0B7627-3DE9-44AE-9244-85C0CCAB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291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7B8BB5-E875-43B5-956D-E9036BB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291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681CF4-43ED-41D4-8DD0-9D1F820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291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+50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B234D7-748F-438A-8981-D485DBDD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29F3ED-6515-4E3B-B925-3A8564E8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149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The point is not claiming production ROI. It is showing how thresholds become cost, capacity, and control decisions.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A11D62-432E-40DC-BF0E-A5B0E8F6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Source: Business Impact / Alert Economics section and queue 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F0DDD7-F6A8-4E6C-91EB-ACADC44A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94594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74C68-6076-4795-BD0B-139E858E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6F88C-3227-4C15-8A3A-8B8F383E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46B45-3608-4A69-AE68-BC7D451B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F3442-C76D-48A5-9B93-35180B41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The project is framed as decision support with clear production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ADAFE-A6C1-42AE-8A35-1DF0B662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This is what makes it feel like a banking analytics project rather than a notebook-only ML exercise.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75247-537B-4789-9DDA-6623A310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79143-0649-47B9-B635-7315BFEA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99035-8504-42CE-AE95-480464AD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model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75B13-34A2-4DF9-B2F9-11DB409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9F3BD-367D-4460-A8E5-0546F0B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336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7371F-0D54-46B3-B3D6-44997A53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66975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2590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590A"/>
                </a:solidFill>
                <a:latin typeface="Aptos"/>
                <a:ea typeface="Aptos"/>
                <a:cs typeface="Aptos"/>
              </a:rPr>
              <a:t>Synthetic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071D1-9BE2-4711-A002-E737487D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860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data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6AC3E-AB08-43CD-B2F4-2B12EF7B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336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5D2FA-7875-4CA7-BEEB-6B917A5D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66975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03F9D-443B-4BAE-BA2F-39E2D12E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860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2A288-E134-4006-A019-689A4835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6E28F-7A89-42DF-ADF8-F085E13E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90351-1E43-4B82-ACE3-C1F094FD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860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production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28747-8B60-4616-A252-730AABC2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bc1defdec4a45"/>
          <a:stretch xmlns:a="http://schemas.openxmlformats.org/drawingml/2006/main"/>
        </p:blipFill>
        <p:spPr>
          <a:xfrm xmlns:a="http://schemas.openxmlformats.org/drawingml/2006/main">
            <a:off x="8495070" y="2190750"/>
            <a:ext cx="2574210" cy="21907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92690-84E8-4534-ABD0-171BC4CD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7239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38DA2-FA1B-4FCC-8C65-11AE00A3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Production approval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D1B8C-53DF-4F4F-A1FB-176C1183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8D489-5B2C-4798-9662-82D80E28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Validate on representative real transaction data.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A87AC-0D11-4275-B2C2-FA81F67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6BAE69-F961-41F0-8D2F-E82337C9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Calibrate probability and threshold under actual staffing constraints.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316D4-11AB-475B-8628-0031BA50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672B47-6761-457F-8B58-9008B6EA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Review segment fairness, proxy risk, and false-positive burden.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85DF6-B362-4780-891F-63B8E232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16FF2-D75A-439D-B713-BEF607D5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Add audit logging, drift monitoring, and investigator outcome feedback.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D5F11A-916A-4FAA-ACED-8C208294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Source: model card, threshold memo, governance summary, and app Governance tab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BF4595-57D4-4EF8-9ECE-054D9C41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03643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621228-7BFC-4C84-A8D7-A07BA7C2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9C3AC-FCDA-41FF-AE99-02B80B46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2111C-481A-43D7-BF37-88BBA230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E7F68-9C58-4440-B32D-2DF7B3DF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I built the project as an end-to-end fraud analytics product.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1813E-E683-47C8-B275-8F9630C7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238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1AA0B-D7D5-469D-8F70-0D21CD67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Technical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A05D0-5BDA-498D-B55B-E7CB1D38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BBE34-2E3E-43C1-82DB-5B437A0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Python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F3681-5B76-4E53-9E40-C82F3ED7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51440-4B36-4168-BCF5-AC42750D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Cleaning and joins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F68F6-60B0-4574-81BD-7B626611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D18F4-755F-497D-A7C4-1422546A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Feature selection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B9E53-D248-442C-8FEF-A3F21D23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FCDF5-078A-4CD7-A10B-95BC5B29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Risk scoring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9E888-EFC3-485A-9A82-E431D7CE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238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08B33-CC24-442E-8C23-848625CC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Business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20141-3657-4AC5-B750-33028B2D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30DC6-45D4-41EF-8569-7613C773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Threshold strategy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A811A-E193-4075-AE3D-9621B2D5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67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37A07-C7A3-4477-851B-AB35FBB8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0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Queue prioritization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DDC49-8A3F-4692-AE09-89BF531F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90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F37EB-0813-4143-91DD-6DDCB26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Alert economics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F1FC6-88F2-4586-A438-7C6E03DB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14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A9A28-31D5-4079-9749-E76D5E75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Investigator 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DE1E0-F2AB-4C84-A2BE-AA037A94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38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76A47-36B6-4AAC-8B11-FF39471D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Governance layer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A09146-D80C-4BC0-B5D4-97291EDA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0BDE19-E20F-4E43-82C4-6553E3D0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Model card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0825AB-FBCF-4B17-A8F8-7A1F9140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67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37346-DE01-42B3-8DEF-7482F129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Risk controls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C140BE-A592-4010-B23A-6BE31115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D921FF-D6DE-420E-837D-B5938E3C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8FFC40-359F-4863-A3E8-4EF4FE18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14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C85781-D369-423A-962D-BEAAB60A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Monitoring plan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952F6F-46DA-4634-9AFC-886A5D7E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38857C-C7AB-40F8-9EB2-43CCDBB3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B9117C-88C4-4F66-BAE3-154CA233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Vercel app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6F2E2-8FF4-42D2-80FA-06812968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530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B900A6-48A6-483E-B312-F71D1048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863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AA49AB-BF08-4E1E-8FE9-6C81FE0C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clean repo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6A92E1-B479-4F28-9FA7-F97230AD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530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E7100B-DC1A-4299-8ADA-F2F60C47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863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2590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590A"/>
                </a:solidFill>
                <a:latin typeface="Aptos"/>
                <a:ea typeface="Aptos"/>
                <a:cs typeface="Aptos"/>
              </a:rPr>
              <a:t>PPT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C6A7D4-FBB9-44A6-BB47-D43507B6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5054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F5C"/>
                </a:solidFill>
                <a:latin typeface="Aptos"/>
                <a:ea typeface="Aptos"/>
                <a:cs typeface="Aptos"/>
              </a:rPr>
              <a:t>submission story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D9737F-3BE1-4B42-B657-34DBE97D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Interview line: I treated the model as an operational control, not just a classifier.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648F73-5ABA-472C-86B5-3746126A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E5F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F5C"/>
                </a:solidFill>
                <a:latin typeface="Aptos"/>
                <a:ea typeface="Aptos"/>
                <a:cs typeface="Aptos"/>
              </a:rPr>
              <a:t>Source: final project outputs and submission artifacts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7968AC-F6B0-470A-941F-49489A30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17616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2026-06-06T20:18:34.9230000Z</dcterms:created>
  <dcterms:modified xsi:type="dcterms:W3CDTF">2026-06-06T20:18:34.9230000Z</dcterms:modified>
</coreProperties>
</file>