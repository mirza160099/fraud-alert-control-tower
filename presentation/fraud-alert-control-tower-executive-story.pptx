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fe5c1b09c4f05" /><Relationship Type="http://schemas.openxmlformats.org/officeDocument/2006/relationships/extended-properties" Target="/docProps/app.xml" Id="R0d04e6d6ecb248da" /><Relationship Type="http://schemas.openxmlformats.org/officeDocument/2006/relationships/officeDocument" Target="/ppt/presentation.xml" Id="R6b0a16036f48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0e0599ba44e13"/>
  </p:sldMasterIdLst>
  <p:notesMasterIdLst>
    <p:notesMasterId xmlns:r="http://schemas.openxmlformats.org/officeDocument/2006/relationships" r:id="Rc2c8b1d1e6b84d01"/>
  </p:notesMasterIdLst>
  <p:sldIdLst>
    <p:sldId xmlns:r="http://schemas.openxmlformats.org/officeDocument/2006/relationships" id="256" r:id="R4d2c48bff3cf4e57"/>
    <p:sldId xmlns:r="http://schemas.openxmlformats.org/officeDocument/2006/relationships" id="257" r:id="R3a6d52c04f9c46c2"/>
    <p:sldId xmlns:r="http://schemas.openxmlformats.org/officeDocument/2006/relationships" id="258" r:id="R7045d3bb7ce44200"/>
    <p:sldId xmlns:r="http://schemas.openxmlformats.org/officeDocument/2006/relationships" id="259" r:id="Rd6b58f3b6bea4a0c"/>
    <p:sldId xmlns:r="http://schemas.openxmlformats.org/officeDocument/2006/relationships" id="260" r:id="R3b9f1aa9e3484e2b"/>
    <p:sldId xmlns:r="http://schemas.openxmlformats.org/officeDocument/2006/relationships" id="261" r:id="R7979bea1ae634200"/>
    <p:sldId xmlns:r="http://schemas.openxmlformats.org/officeDocument/2006/relationships" id="262" r:id="R6677373e03fd4b73"/>
    <p:sldId xmlns:r="http://schemas.openxmlformats.org/officeDocument/2006/relationships" id="263" r:id="R0d1e4f6532e545ff"/>
    <p:sldId xmlns:r="http://schemas.openxmlformats.org/officeDocument/2006/relationships" id="264" r:id="R4b53eeb57d9841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0e0599ba44e13" /><Relationship Type="http://schemas.openxmlformats.org/officeDocument/2006/relationships/theme" Target="/ppt/theme/theme1.xml" Id="Rab3c2772b2ee459b" /><Relationship Type="http://schemas.openxmlformats.org/officeDocument/2006/relationships/notesMaster" Target="/ppt/notesMasters/notesMaster1.xml" Id="Rc2c8b1d1e6b84d01" /><Relationship Type="http://schemas.openxmlformats.org/officeDocument/2006/relationships/presProps" Target="/ppt/presProps.xml" Id="R305cdb2302694f58" /><Relationship Type="http://schemas.openxmlformats.org/officeDocument/2006/relationships/viewProps" Target="/ppt/viewProps.xml" Id="R2fbfdad6a86a4ccd" /><Relationship Type="http://schemas.openxmlformats.org/officeDocument/2006/relationships/tableStyles" Target="/ppt/tableStyles.xml" Id="R96d74e581c894459" /><Relationship Type="http://schemas.openxmlformats.org/officeDocument/2006/relationships/slide" Target="/ppt/slides/slide1.xml" Id="R4d2c48bff3cf4e57" /><Relationship Type="http://schemas.openxmlformats.org/officeDocument/2006/relationships/slide" Target="/ppt/slides/slide2.xml" Id="R3a6d52c04f9c46c2" /><Relationship Type="http://schemas.openxmlformats.org/officeDocument/2006/relationships/slide" Target="/ppt/slides/slide3.xml" Id="R7045d3bb7ce44200" /><Relationship Type="http://schemas.openxmlformats.org/officeDocument/2006/relationships/slide" Target="/ppt/slides/slide4.xml" Id="Rd6b58f3b6bea4a0c" /><Relationship Type="http://schemas.openxmlformats.org/officeDocument/2006/relationships/slide" Target="/ppt/slides/slide5.xml" Id="R3b9f1aa9e3484e2b" /><Relationship Type="http://schemas.openxmlformats.org/officeDocument/2006/relationships/slide" Target="/ppt/slides/slide6.xml" Id="R7979bea1ae634200" /><Relationship Type="http://schemas.openxmlformats.org/officeDocument/2006/relationships/slide" Target="/ppt/slides/slide7.xml" Id="R6677373e03fd4b73" /><Relationship Type="http://schemas.openxmlformats.org/officeDocument/2006/relationships/slide" Target="/ppt/slides/slide8.xml" Id="R0d1e4f6532e545ff" /><Relationship Type="http://schemas.openxmlformats.org/officeDocument/2006/relationships/slide" Target="/ppt/slides/slide9.xml" Id="R4b53eeb57d9841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47f2b98d4c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5557e14f4c449f" /><Relationship Type="http://schemas.openxmlformats.org/officeDocument/2006/relationships/notesMaster" Target="/ppt/notesMasters/notesMaster1.xml" Id="Rb4d5b80148dd45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b98ec1277042c7" /><Relationship Type="http://schemas.openxmlformats.org/officeDocument/2006/relationships/notesMaster" Target="/ppt/notesMasters/notesMaster1.xml" Id="Raf7765cb6155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c27498a7854822" /><Relationship Type="http://schemas.openxmlformats.org/officeDocument/2006/relationships/notesMaster" Target="/ppt/notesMasters/notesMaster1.xml" Id="R274c8604e5834e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287f8cafad42c9" /><Relationship Type="http://schemas.openxmlformats.org/officeDocument/2006/relationships/notesMaster" Target="/ppt/notesMasters/notesMaster1.xml" Id="R96f70d608ee549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2c3ae9e75646fc" /><Relationship Type="http://schemas.openxmlformats.org/officeDocument/2006/relationships/notesMaster" Target="/ppt/notesMasters/notesMaster1.xml" Id="R8cfb0192c2724c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d6f2781cf34717" /><Relationship Type="http://schemas.openxmlformats.org/officeDocument/2006/relationships/notesMaster" Target="/ppt/notesMasters/notesMaster1.xml" Id="Rd2a00f146bc746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be94d238d14d57" /><Relationship Type="http://schemas.openxmlformats.org/officeDocument/2006/relationships/notesMaster" Target="/ppt/notesMasters/notesMaster1.xml" Id="R90625536434548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017a7b5e234693" /><Relationship Type="http://schemas.openxmlformats.org/officeDocument/2006/relationships/notesMaster" Target="/ppt/notesMasters/notesMaster1.xml" Id="R960a3eab9bc542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5c64a3322447d2" /><Relationship Type="http://schemas.openxmlformats.org/officeDocument/2006/relationships/notesMaster" Target="/ppt/notesMasters/notesMaster1.xml" Id="R1846678b657e4d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271a28ba645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9434951a8624cc7" /><Relationship Type="http://schemas.openxmlformats.org/officeDocument/2006/relationships/slideLayout" Target="/ppt/slideLayouts/slideLayout2.xml" Id="R0ccd889ee39544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cd889ee39544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9eeb7d80f4df0" /><Relationship Type="http://schemas.openxmlformats.org/officeDocument/2006/relationships/notesSlide" Target="/ppt/notesSlides/notesSlide1.xml" Id="Raa6cd9b85422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51999605f465e" /><Relationship Type="http://schemas.openxmlformats.org/officeDocument/2006/relationships/notesSlide" Target="/ppt/notesSlides/notesSlide2.xml" Id="R96f3b8b87d1246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5083d76cea4ce5" /><Relationship Type="http://schemas.openxmlformats.org/officeDocument/2006/relationships/notesSlide" Target="/ppt/notesSlides/notesSlide3.xml" Id="R84c5060c7b454b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12862de704a7e" /><Relationship Type="http://schemas.openxmlformats.org/officeDocument/2006/relationships/notesSlide" Target="/ppt/notesSlides/notesSlide4.xml" Id="R1022e81a3ed94a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b57a3f7d5042af" /><Relationship Type="http://schemas.openxmlformats.org/officeDocument/2006/relationships/notesSlide" Target="/ppt/notesSlides/notesSlide5.xml" Id="Rf43ed18708f640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765d0ab20d42cd" /><Relationship Type="http://schemas.openxmlformats.org/officeDocument/2006/relationships/notesSlide" Target="/ppt/notesSlides/notesSlide6.xml" Id="Re062793abb44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74ccbc86a4168" /><Relationship Type="http://schemas.openxmlformats.org/officeDocument/2006/relationships/notesSlide" Target="/ppt/notesSlides/notesSlide7.xml" Id="R792dbb406fe144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a2b4b4235241a8" /><Relationship Type="http://schemas.openxmlformats.org/officeDocument/2006/relationships/notesSlide" Target="/ppt/notesSlides/notesSlide8.xml" Id="Rd98ba06a675f4f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703b5209af40f2" /><Relationship Type="http://schemas.openxmlformats.org/officeDocument/2006/relationships/notesSlide" Target="/ppt/notesSlides/notesSlide9.xml" Id="R50893338d80940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6F08B1-904B-496A-BA13-950F34D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890C6-6717-4D6F-9251-C277DBF2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32CCE-8468-43FE-B3D0-DB5D97EF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BA10F-83B1-4567-99A9-ADED4F74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EXECUTIVE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20B5B-755E-4608-BC3F-1E9E70B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Fraud triage is an operating-control problem, not just a prediction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FDC06-4189-43CB-A262-D335993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Built an explainable alert prioritization system that scores transactions, ranks investigation queues, and shows why a case deserves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BA33A-0DD6-4EDC-9DDB-73907282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5C6B1-2552-4CC8-8026-4E3A1DB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rPr>
              <a:t>5,000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5FB8D-4AFC-4B79-B85F-BA612BE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synthetic transactions profiled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FD073-BCCF-4884-977E-0C93C0D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956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9A03F-5A38-4DD1-95C2-1ECB9BD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6710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4.02%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CB0BA-48FF-4844-B348-96AF9B5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fraud rate in raw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D1005-D485-4C9F-A6FA-E7D8B22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956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CDE55-AAFA-4A4B-97D8-A7BCE512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6710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rPr>
              <a:t>0.780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ED10E-3C67-49CF-99A4-8C9C3D1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recommended review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3F1F1-67FA-452B-8FF4-4D8B19B1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77EF5-E90D-4A78-8F58-4136D83B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FC9EF-7461-4DD5-8CE5-861BFCB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4805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Champion model estimates fraud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D4E8C-69D7-492C-A55B-A70E8653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EEDBA-9F2E-462B-BDD9-D8D3BF9F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Prioritize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DCFFB-4F2B-4EB6-A767-6F449311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Threshold turns risk into review capacity.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1A685-A990-4EE3-B4CA-C9BA1523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149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7B58B-E051-4453-8883-62BB0560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48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288EE-B2B0-4BF1-941F-DD38477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53050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Top drivers make cases reviewable.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3C016-41F9-4279-A0B5-B08F5CD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24275"/>
            <a:ext cx="9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A730CE-55E6-402B-B2A7-B1CD64F5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86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1484C-FEB6-474A-B17F-67DFA00C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76775"/>
            <a:ext cx="9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50028-879F-41A5-80D1-F2ED321D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5AB4C-B1FE-4A66-9517-B6D7DF00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Steps 1-7 project artifacts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24B9B0-BE71-4B1F-9790-DFE7E4BD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1705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80E497-3444-4616-9198-DC6A342A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DF510-2FA2-4107-87FC-E47A5B55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77B72-54E1-4A0A-A387-B93988F3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61C1B-FAA5-4E03-875E-B8FA65E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STARTING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03270-90C8-4843-9C55-7751D70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The old alert rule is selective, but it misses fraud that a queue model can surface.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3AD2A-6704-420C-8A8D-B12F6B15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733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On the held-out test split, the existing alert flag produced a strong hit rate but only captured one-fifth of known fraud.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9D8BF-54F7-4C7B-963C-48AFE6CA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33C30-5B74-4266-AA68-5C485AE6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rPr>
              <a:t>36.4%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1634F-5CA6-4063-A61D-85D07E88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existing alert hit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6BD23-6A70-4028-BE72-61377507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FF6F7-A5FA-4232-8A9D-7EC49A2A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20.0%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9D9D3-2135-433E-84E4-205A8880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52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existing alert fraud 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AD3F9-5756-4D54-81E2-628B13EA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2B36D-0E5A-4998-84B8-031939DC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52003-9CDF-4B9D-9F0E-A27A671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052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test frauds not caught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1861B-A8C2-4D94-9464-FE211AD8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90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981E2-FFD1-4D25-BBD6-D381FF4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4F4A"/>
                </a:solidFill>
                <a:latin typeface="Aptos"/>
                <a:ea typeface="Aptos"/>
                <a:cs typeface="Aptos"/>
              </a:rPr>
              <a:t>Existing alert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5BBD2-52AA-455B-BBE8-9117E90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522B2-8FA2-4137-9FF8-E8118CC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479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5A273-2D29-4C55-8EF3-827CBFBE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479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403D8-2A9E-4168-A6A6-EA789049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289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36.4%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140D5-8E99-42E0-8DF8-E06BB3C1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09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2FF3A-A6C4-49EC-B505-DCCF8B41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385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F00E7-2590-4A8A-830A-FE93979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385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7EC58-7F37-4E85-A8FE-874EDB31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194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20.0%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13824-397D-4C61-8AD1-17661D6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004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3E4FF-16E6-4680-9A73-C8AD8B10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A7F92-5F74-4E78-BE12-0EEE0F9C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90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F2BE1C-666C-48ED-9427-0D1D063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810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25.8%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85C26-EAEF-44A6-822F-278D1DC1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149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Implication: the business decision is not whether alerts exist; it is how scarce review capacity is allocated.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DC14D-861F-44DB-A93F-ABA76C2F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 3 existing alert benchmark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959DDD-BB21-4B35-B67A-DB201CF2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14697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5FDC3-63DC-4B78-872D-FB7E2FFA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9A49C-94E4-4BBF-8511-CE0E79B6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D49D5-3D91-41B4-A5D3-3D800BFF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694B7-27D7-4DB3-9969-CD5F8B2D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MODELING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AD571-640D-471C-984F-FEA194A7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Controls came before optimization: clean joins, leakage prevention, and explainable top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21471-FB0E-429C-B227-13B097D5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4E8D6-0D06-4F50-8CC4-F99670F6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B2528-479A-4E52-BEE4-748E1514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Transactions, customers, and merchants at transaction grain.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74EF1-2A75-4440-B842-7B16A3B9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669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DF522-F560-4215-A07E-0190B02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6ED0E-44FE-473E-932D-00B776BE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Normalize country labels and flag broken tenure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7294E-71C9-4058-ABEA-15A3D2F9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8DB8F-24EB-453B-9D44-5318845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Join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A3BCC-EEB0-4CDC-97FC-3E5DE859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Left join profiles and retain missing-profile flags.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6F68E-A4F0-426F-8293-6A626A0E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8D85F-108F-4FF3-9DAE-7895F190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E7B5A-FCE7-4B53-BEB1-F8EEEA2A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Remove IDs, target, and alert_generated leakage.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90E6E-2BA1-4080-BADB-5B07D6C7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BF306-1D6B-4B32-948F-0782DB22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43B41-8BCB-453D-82E4-0E612B3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Rank source features using training-only mutual information.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641AA-7F32-4EDB-984B-FEB25483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4F4A"/>
                </a:solidFill>
                <a:latin typeface="Aptos"/>
                <a:ea typeface="Aptos"/>
                <a:cs typeface="Aptos"/>
              </a:rPr>
              <a:t>Top selected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CC110-478B-45AC-BE3C-0F8F5706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0">
            <a:solidFill>
              <a:srgbClr val="E8F3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0EC3B-082E-4724-B722-F3DE666E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geo_distance_km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CF041-41F0-48A3-99BA-29D1FD26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33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0">
            <a:solidFill>
              <a:srgbClr val="E8F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77F49-2EA8-4CF5-B981-287C1944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005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txn_country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2B5F0-0F92-41C8-985C-F5943FDB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0">
            <a:solidFill>
              <a:srgbClr val="E8F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5EE72-0937-4F0B-BBE9-DFFF5396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synthetic_identity_score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6ED9D-A176-405C-A43E-61C92A1C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EA6A0-51F4-4CC1-9309-26E7E16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005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merchant_risk_score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C346D-7929-4B90-9BC3-9CC351D1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339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C23697-A348-4270-BAB1-FC7CE921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005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6AC98-20D6-4415-AC2E-8055A72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F8E37-2D9B-4A0F-9774-5777A982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txn_hour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71A09B-B42A-4713-A864-90C868D2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91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890991-D958-4719-8149-53FB4E4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577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device_risk_score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53F104-D2B4-4F2A-A183-1E5C5923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EBA9B4-2121-4F34-BE1D-4CA2F6C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577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merchant_profile_risk_score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9198D4-426B-4498-9B2A-ACE2242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4AA631-D0B5-44D2-8E59-7B7BD73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577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transaction_amount_usd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CAABD1-CD8B-46C3-A0C8-5408CEDE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91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BB1179-864F-4184-B7E5-C64D8DAE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amount_log1p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E7FF2D-10A4-4DA4-BD3A-1B345718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Interview signal: the model is built as a governed analytic layer, not a leaderboard shortcut.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5E8180-AC6D-459E-B41A-755B2B13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 2 modeling pipeline and feature ranking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B74ACF-491B-4F34-9C74-210F4938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80237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F8793-B69B-4C9F-9922-FE90D30F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35DC3-4422-4271-A901-6395B5BF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71F2C-5F8D-497A-AD4D-71537270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95F70-EBDE-4E41-A177-1F9ACB89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MODEL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B9EF7-782E-49B0-9DF5-F4BBEFD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Stronger models changed the recall frontier, but the champion was selected for queue 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52552-A85D-4940-9B76-CFCA5B6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Model comparison used the same top-10 feature set so the final app remains explainable.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0155D-7293-4D3C-AADE-AFDDAB0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10A6B-0B08-413D-869D-50CEB32B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CD49F-CB48-41E5-997F-21C39B33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38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33560-97FB-473B-B2E6-9F0259B9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14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5CB2A-6554-4429-A2B4-46558FC3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38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E8B7A-363B-47E3-93AC-6B5B4EC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14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67855-7B0F-44E0-9645-61D17A2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38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8DA5D-AABB-4E6E-BD16-E637A05B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14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96CFC-E437-49A5-8B66-598014D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38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C1F49-C803-4473-84EE-67776EE9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14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PR-AUC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F8004-80E3-4F6E-8208-79C9E4C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4F46C-A8D9-4382-A3C1-FA73751A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1460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425EF-B6EA-4FA6-9D3A-A839A64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23E32-5205-4463-B379-1973CB08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Gradient boosting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1F201-724C-4C66-840A-B19C789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9C12B-718A-4F98-9151-5206FBB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11.6%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88F7F-4B36-486B-844C-B9CE9311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0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F4204-4060-4959-95D4-6EC2187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C8649-8E40-4850-AB21-DB65445B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45B27-5738-4A51-BB70-872415D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18.0%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56E8A-2833-401C-B4BF-45F35CC8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4015A-C94C-4179-B55F-FE1B1EB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0.130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1C33A-65A2-4166-9233-A0F02791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0A7E0-114D-4B90-B7D6-69DB508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B9D4BD-72ED-4C89-A573-54AEB8F4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72053D-9367-43D9-AFCC-DD30F9F1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AdaBoost champion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BBE3E-F8CB-4114-9394-FA003EF6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0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183391-3EE8-497C-B21B-6C02082D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766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14.9%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388585-072D-441E-B484-E9FEFD5D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72229-635D-4E9D-870A-77E9FAA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35.0%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8A0757-E7D7-47DD-9F02-22BFD2C4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06B9C-970E-44CC-9620-4024B1F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20.9%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379FBE-B582-4376-AFFE-84B51CA3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8EF2E6-7AE3-4EFF-BA23-209873D2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766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0.098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3F8A90-FC83-4DDF-853F-6D629167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8DE32D-4F02-4142-889A-CC96A50E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C13FA1-D9F0-4893-89B4-5007E68C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B65FFA-BAE9-43FB-B849-027E627E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36A6CB-B5BE-43BA-B4E9-F6799334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0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4C0A93-B49C-4932-88B3-B14E315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766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7.7%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2B3B37-D6A2-4B50-9575-2B8C1B18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CB81A6-79E1-455B-8713-1ED5C88B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3FB209-B1C5-4053-9736-9758644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00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938BAA-0A34-44E0-86DE-99CD561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13.3%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61F7B1-9CFA-452C-A436-121CCE04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00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B76724-71C6-480C-A0BC-6C2F8731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766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0.092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0F807D-61A8-4998-9E5B-1196736F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EF9B4C-3F39-421E-829C-913FC7DF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766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261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9EC0BB-2D17-4EB9-96D1-A46A3D21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7F342F-8D51-4BAB-A7A8-7B6893F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63F164-BF43-4FFB-851E-4D2D8456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A60538-F9DE-47D3-8122-1C98C023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76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10.3%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5806B9-5056-4794-AAA0-B6EED1B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DDB43F-8A0C-4F91-9EAD-8DCEDDE6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76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30.0%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475FF9-9630-45AE-B461-A5028EEC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1934B3-CB92-4446-99AE-8409A72F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76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15.4%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1D9F66-77C3-49E8-A13B-F032A67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7536A9-9DB0-435C-B207-D8E8AA54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76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0.091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8B43A4-6E32-4E04-9254-975FF7EA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E99AECC-CC7A-45F3-A7BE-E0DE77B5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116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4BCB00-B52F-481A-9482-9EE1D36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8412E0-886E-4202-905C-29377FE6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Extra trees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7DADE2-85E4-48DA-A699-7B8999B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00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2B803B-5F88-4898-99D3-42B5F2D8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5.8%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36868B-2A9D-4260-A482-93542A6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00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4CD54E-B8AE-43CA-808D-F1A72892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76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37.5%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DA0E8B-4477-4C1D-8BF4-C14A9CBB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00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3297D1-10B5-4A9F-BF4C-26994988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76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10.1%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869C2E-F781-46ED-8617-3684F299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00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1ADBF4B-4652-4977-9282-8D69B67F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76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0.089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275112B-5F41-462A-B209-DFA7EC98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06A0A9-7437-40B9-937F-F7EC5369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767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257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5E7950-BFFD-4047-868C-D34C7775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FF7E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57AC66-BD33-4F17-8BCF-DF34BD0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479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champion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6C6EDD-52D8-43B6-9767-4CEBEC2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Why not just pick highest recall? Random forest caught more fraud but produced a much larger review queue. Fraud operations need a threshold strategy, not a single metric winner.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57DABD-62CB-4828-B509-CAE40F26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 3 model_comparison.csv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CDE493F-F392-4822-B3EB-EBD7386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93984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9EE7E-E69F-469F-BB49-2B4D0C67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44699-DC2C-49DE-A6ED-9AEF3F85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E44B2-1C44-4F48-8912-1C3CE110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10F9D-9866-4E12-AF83-FEE1B15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THRESHOLD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EFAF5-4C74-452A-BD3C-CED7E1AA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The threshold is an investigator-capacity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8B118-2E42-45CF-B090-1AE8B80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Lower thresholds catch more fraud but expand the queue. The selected policy targets a 5% review operating assumption.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8BE75-B1F1-424D-9DD2-A721885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4F4A"/>
                </a:solidFill>
                <a:latin typeface="Aptos"/>
                <a:ea typeface="Aptos"/>
                <a:cs typeface="Aptos"/>
              </a:rPr>
              <a:t>Fraud capture by capacity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5986C-CFF4-407B-8D39-7600628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1% capacity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65B8E-728D-4B7E-9607-AC6D6DBC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908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455E5-ACBE-4B2C-B431-C781C310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9085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32FB9-9A7E-42A9-A3AF-2D7EE7E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71A5B-D69B-4B29-9CA7-4F14DBE8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2%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70510-7531-4139-BF2E-CE1A5DF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861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C946A-1520-465F-9E89-2F39A888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861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A3E13-2B39-4DA8-AEE3-8A0948AA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10.0%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C20F1-54F1-493B-BA35-C6716281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5% capacity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B88B8-57DC-4206-B11C-FD2433CC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814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C2ADB-1F40-49BB-B9AA-450C0F9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81450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A434A-AC0C-4752-89AA-656973A3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38625-4340-4DFA-8020-0E798C18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10% capacity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EE50B-325B-419E-A1C7-38B54AA4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EDCA1-C1D8-4DA4-ACB0-572457F7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A3191-2695-4002-93B8-B930802A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A41DF-1F0F-487D-A9A0-6382898D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15% capacity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B058F-3662-4E33-B0C4-9F8EEC7F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AAC9F-382A-42CF-8A04-312AFF3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D1C29-2242-4707-893A-D485695F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47.5%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E2B068-D5F3-4CE0-99AA-926C334D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4F4A"/>
                </a:solidFill>
                <a:latin typeface="Aptos"/>
                <a:ea typeface="Aptos"/>
                <a:cs typeface="Aptos"/>
              </a:rPr>
              <a:t>Hit rate by capacity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95392-6ED3-4F51-B5FB-9968186D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1% capacity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2D2040-B848-404D-9AFC-27028BCE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FA4D5-E87E-43F1-B047-B2F0FAE0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250D03-72DA-4E3C-807B-DAF524D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20.0%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20AC6A-F5A2-41FE-9DCF-1FD7D74E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575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2% capacity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47E6-D6EA-4168-9A1A-63C23AAD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333C74-42AD-4A61-99C5-D404B884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BC9551-196D-4E5D-9CC4-9B549AF5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25.0%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2959F-9077-45D6-B015-0EA1552C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52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5% capacity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EE1FC7-F826-42B4-B1E8-DA929906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E4CEC3-335D-4586-ABF8-6FF2E3B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FF11E3-404A-403E-A99A-32E5532F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13.5%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83561F-E1FC-482F-9649-69EA2E46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481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10% capacity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928AD5-8FBB-4588-994D-6A1B00FE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A2ABD9-D37C-47E5-9FDA-E6BE24D5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A1F68E-B2DD-4947-82E1-0C28ECA2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10.8%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707AF3-1B1E-4AA1-B286-89DE9353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434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15% capacity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198635-C9B9-4A97-9DDC-2A2447D4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364087-426A-4B14-96BB-C1F49B0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409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5AC115-BC4C-4131-AE6C-F40CAD93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8.5%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D5E7FC-D9BC-4720-BABF-B6EB5BB4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193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7EEC68-7BDD-4AE7-8C93-EEDADE72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rPr>
              <a:t>0.7795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9A756E-5898-46FB-9A4D-BB7E88E1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recommended threshold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03BA12-C381-44B7-8600-B47F19D5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7948C3-29D0-4D66-B339-CEFF1F37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052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74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C9A777-A4E4-4092-AB13-BE5A43E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00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test reviews routed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B9624B-56A0-4928-B614-0360E2BB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4820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32E356-7813-447F-A184-0421C2FA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196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25.0%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366629-AE84-45BD-97A6-AC9D449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14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test fraud capture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4D2EEC-EAF2-4C74-83AF-A5A83958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 3 capacity_thresholds.csv and threshold memo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7362F7-7CE7-4615-87A0-B7AFFAA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10139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4B1F3-ADCA-40E7-BD99-0D0401E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13A59-B0EE-4DC8-ACD1-BB867E9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FC6DD-CF13-4DFE-ABD7-94DB92D6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32E64-F863-4DE7-AECF-84AFB63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CONTROL TOWER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0522-AFE6-4563-BAAA-2CDF426D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The app converts model output into an investigator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E3143-52FE-4720-B084-88E26754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42346-1C34-4EFF-B038-A84B28D8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C1B37-4D52-4A2D-A6FD-D975773B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Amount, currency, country, channel, hour, distance, risk scores.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F0A82-9F37-4DC9-965B-5D569E4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813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9E9BD-6A6D-499F-BB63-441B285B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33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8062A-C732-415D-9D66-08B712E9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1A5E3-1C03-4C42-BF3A-60D4739F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62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Model 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C3063-7DE7-41A6-8252-3CE06801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705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Exported preprocessing and AdaBoost decision stumps run in browser.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D4366-7CE0-4A65-A693-DB64CCF7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813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BD843-1B37-460A-88B2-CD8D7A3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33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DA1DF-523D-47D2-83C0-E7BAAAF2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28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23D27-860C-46C7-87CF-8F9DFE1A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1709D-1EDA-4ED0-AE16-E39FCD1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Probability compared with threshold and capacity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3A7E9-C064-43BC-B90B-EDD4EFAA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813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10DDF-0F62-4BFE-9DAF-889A683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33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2F203-BB48-4400-A66E-2E11C50F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6F366-CD27-4F22-8009-FA6339E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0A590-5BE1-45D7-A25D-AB0847C0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Reference-value sensitivity generates reviewer reasons.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5232A-08FA-44C7-AFE5-5E83565D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1813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1EB85-252F-4AA0-9FA7-374F099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54D68-74BF-4945-8266-292F8FD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03094-A43A-4653-9A14-084F9A01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A968E-A936-419F-975D-640088CD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6705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Cases surface in priority order with governance context.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1AFD8-32DC-4D5D-9B5B-A849A7E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4F4A"/>
                </a:solidFill>
                <a:latin typeface="Aptos"/>
                <a:ea typeface="Aptos"/>
                <a:cs typeface="Aptos"/>
              </a:rPr>
              <a:t>Deployment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2485E-8F9B-480A-ADC7-933B56E5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The trained Python model was exported into static JSON, so the Vercel-style app can run without Streamlit or a Python server.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32B98-BD34-4068-B30E-AB3AA7B7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Browser verification matched Python exactly for the high-risk scenario: 0.841472641005.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D4F0D6-8026-4823-8CBD-1F2D1DF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 5 app and model export 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609392-C196-4D00-A095-AABE3731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55064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4C3CE-D5E1-41A6-BF33-50B993B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B6A03-F8E7-47D5-BE9A-89890AFE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7DD44-5A0E-4AC4-95BE-5850AA4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4FB4C-99F8-4E6C-95C3-4E4A2C4C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6C0AB-08E0-497B-9847-F48E51C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Explanations make each high-risk case reviewable.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E0ABA-DC1B-478A-8FA4-D5FFA42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Global importance tells leadership which signals matter overall. Local sensitivity tells an investigator why one case entered the queue.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EF84A-3909-4879-B616-336B8FBC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8768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F79AE-B83C-420A-9962-680369E7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4F4A"/>
                </a:solidFill>
                <a:latin typeface="Aptos"/>
                <a:ea typeface="Aptos"/>
                <a:cs typeface="Aptos"/>
              </a:rPr>
              <a:t>Global drivers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1B885-127B-4B8F-8693-41FE22A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Geo 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C3DE5-2265-47F3-BFB0-869E2418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11133-A376-4D65-9954-A9383904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FA2C0-F53B-4CF8-8F38-0C23551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4.7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117F2-4045-4A08-BA39-F429027C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Amount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6D95C-7A5C-4E65-BBF5-291F23D9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671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20981-4FB9-47E4-B29D-4C325C1F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67150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659DB-82CE-4D99-AC72-C994C9B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0.4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5EF00-F0E4-4C7B-BE86-CF17BB35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Country/hour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C6898-8082-4EB4-9F36-C27C0E4E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005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6"/>
          </a:solidFill>
          <a:ln xmlns:a="http://schemas.openxmlformats.org/drawingml/2006/main" w="0">
            <a:solidFill>
              <a:srgbClr val="E3EA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AD91C-210B-4CAD-BFE3-84FCE481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0055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AB095-1B80-40CE-9EE8-2E69C0BD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81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7E787-0F55-4CDA-9827-C91554F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48768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C040E-9C64-4D70-93D2-E8E1BA87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4F4A"/>
                </a:solidFill>
                <a:latin typeface="Aptos"/>
                <a:ea typeface="Aptos"/>
                <a:cs typeface="Aptos"/>
              </a:rPr>
              <a:t>Local case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61E2A-BD44-43C7-A587-6AB06CC0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A624D-F507-4B01-8CE5-58C0913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1276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0.841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AC1B4-8DEB-4EC4-B0AC-556160F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fraud-risk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C341E-BE63-469A-A7B9-A10D2D9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Geographic distance was 4,200 km versus a typical value of 17.6 km, increasing risk by 0.324.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36DD3-213A-4790-A34B-4D77950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P2P channel also increased model risk versus the typical reference channel.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F201C-D37E-4A68-99C4-1AE543A2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53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Caveat: explanations describe model behavior, not guaranteed causality.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06C06D-F244-4AFC-86D9-1F4D26D2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 4 explainability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EA640-301D-4854-A4FE-09221833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09854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FA64B-6B4C-498B-B44B-D58085C6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854A7-D03F-4F35-BE3F-016216EA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FC699-C3BE-4D95-8633-2DE93C10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2DE0A-443B-4F58-96B1-4819F2F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E8F93-E3DF-4140-992C-9A42A7A0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Responsible AI controls define how the prototype can and cannot be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C50E-6938-41BD-B930-3C62806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50769-3B12-45AC-926E-3CC10B8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148CA-6E61-4F21-9BB6-9CE45FF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479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64B9D-55E6-408E-8621-4B8F438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Implemented in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F9621-E295-476C-9494-5667698C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292AC-DDD0-4E0A-A3B1-79F92171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Production expectation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04606-90CC-47A1-92EE-FE02931D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DF4E0-F91F-4D49-A97B-55F1F1CF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Leakage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30D11-ADB9-46F1-8363-6C467A94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62EB2-2E89-4FBE-A034-F844A0D1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Excluded IDs, target, and alert_generated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DAA0C-403C-4906-AD44-8C7A7069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88578-29E7-4CA9-A4C7-FA6B41A0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Independent model-risk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9CB9E-3C4F-4AC7-8A5F-E5DBB40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67F85-D760-4541-89AC-4FA11F5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D1AB9-4AA3-4B8F-A69B-C61B7914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4FE49-DC80-4123-880F-A3019AB5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Outputs review recommendation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2ECF2-1FD7-4FCF-ADF0-00D8DDF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8E94E-5006-4103-BD41-209F2A0B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No automatic blocking without approval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17A86-AC64-4253-AD1D-79F13BCD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F16B9-9CAD-446C-A335-6DC77427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F5509-1CF8-4EAA-AB94-797B4D0A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254EA6-B1CE-45BC-B376-BF80297D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Global and local reasons in app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8BEEA-C496-4113-99EB-E2B42AB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C0BBA-BDE3-4B0A-B8EA-371D6269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Reason capture in case audit 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AE3926-D128-4742-AF4C-164938C3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A972BF-6AA8-4212-89C5-A82A06BA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Thresholds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26C4A6-6439-4C43-A2EE-CA3AD53D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195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D2ADE2-AD63-4E42-A93C-FDCAA5CC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Validation-selected capacity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32C6D-0E3E-4F2F-A3A7-10B92EC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8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8E410A-8069-456F-BFBF-EC28532A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Recalibration by staffing and drift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2AD094-C4E5-4E76-9D00-1BDE5A41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8C51BC-0F0D-40AA-8349-11A8245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D503DC-E22F-42EA-B722-4DB35DAA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C681A3-C817-4A61-AAB9-9BBCDCB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529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Queue, hit rate, recall, controls listed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D035E3-7229-4DBD-B5FF-DDAB9D2A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84A15D-5A57-47F3-97A1-0D6F27F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3371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Daily and weekly operating dashboards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5C071D-F73F-48E5-94EA-3D9D0850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Governance position: decision-support only, synthetic-data prototype, not production-approved without real-data validation and monitoring.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06A271-F8AA-4F4B-80D7-F7FB50E2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Step 7 model card, threshold memo, and governance summary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37735D-4EB0-41E2-BB5E-FDA70E5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43628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6E720-091E-49ED-9A6C-0EF145D9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6DFDD-5F11-4E33-8F2C-B8D933E0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B36F4-6546-46AC-A14E-BC7374D7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18C43-0E98-4FE3-B87F-2F7720C0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PORTFOLIO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205D6-08B6-45C5-B8A5-A09E795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3201E"/>
                </a:solidFill>
                <a:latin typeface="Aptos Display"/>
                <a:ea typeface="Aptos Display"/>
                <a:cs typeface="Aptos Display"/>
              </a:rPr>
              <a:t>The final artifact demonstrates end-to-end banking analytics judgment.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8A4AD-59EE-4716-9050-1A6311BF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400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7A204-5640-457F-86F7-18AF8B64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Modeling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2751-5F37-4E37-957C-12DFD8FA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13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cleaning, feature selection, model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3EE3E-C391-4069-9995-CDEF98B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4400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008B4-FAB7-403A-BD0C-F37F4389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5745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Vercel-style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6A1B7-743E-43D8-9DAE-0A0D0501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62250"/>
            <a:ext cx="413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score, queue, metrics, governance tabs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5B3B6-E411-4E0C-8342-39F42E7E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4400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FEDC9-7E30-4775-BDE5-BCE3E62F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Explainability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C6F28-5D56-4C8F-B49F-D4B0C4EA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13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global drivers and local case reasons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14ADD-3C92-454C-92E9-9C536477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76650"/>
            <a:ext cx="4400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23426-D36D-41B9-9FFA-ABE530C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000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1E"/>
                </a:solidFill>
                <a:latin typeface="Aptos"/>
                <a:ea typeface="Aptos"/>
                <a:cs typeface="Aptos"/>
              </a:rPr>
              <a:t>Governance pack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4DEAE-B9A5-4977-9B85-71EF76AC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14800"/>
            <a:ext cx="413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model card, threshold memo,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96D26-A3F9-429C-BD0E-0B3BEB5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C6060-3526-4E74-9ACC-D0ED6507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rPr>
              <a:t>0.841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A368E-8329-488B-ADAD-BAD580D0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browser score matched Python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AB9A7-F0B3-413F-BD2D-BEEC922F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340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1E9DE-44AF-4674-9460-1357EC76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5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4F4A"/>
                </a:solidFill>
                <a:latin typeface="Aptos Display"/>
                <a:ea typeface="Aptos Display"/>
                <a:cs typeface="Aptos Display"/>
              </a:rPr>
              <a:t>4 tabs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E751B-9D7B-4701-B2C6-326DC3A2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864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deployed control tower views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89D90-8037-4851-A222-47AE6A65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01E"/>
                </a:solidFill>
                <a:latin typeface="Aptos"/>
                <a:ea typeface="Aptos"/>
                <a:cs typeface="Aptos"/>
              </a:rPr>
              <a:t>Interview line: I treated the model as an operational control, not just a classifier. I documented how it should be used, what its limits are, and what monitoring would be required before production.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92FF2-9B22-4D7C-BB75-CF35A2F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Source: final project outputs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51BC2-8C45-44C8-9E7E-9EDB4F5D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7433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2026-05-31T16:34:51.6750000Z</dcterms:created>
  <dcterms:modified xsi:type="dcterms:W3CDTF">2026-05-31T16:34:51.6750000Z</dcterms:modified>
</coreProperties>
</file>