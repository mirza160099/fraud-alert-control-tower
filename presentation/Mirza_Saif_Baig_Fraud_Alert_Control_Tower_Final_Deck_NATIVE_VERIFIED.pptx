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62179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6B5F"/>
                </a:solidFill>
                <a:latin typeface="Aptos"/>
              </a:rPr>
              <a:t>Explainable Fraud Alert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27632"/>
            <a:ext cx="612648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800" b="1">
                <a:solidFill>
                  <a:srgbClr val="18212F"/>
                </a:solidFill>
                <a:latin typeface="Aptos"/>
              </a:rPr>
              <a:t>Fraud Alert
Control Tower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6400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5C6877"/>
                </a:solidFill>
                <a:latin typeface="Aptos"/>
              </a:rPr>
              <a:t>A data analytics project that turns transaction risk scores into investigator-ready queue decisions, explanations, threshold economics, and governance controls.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4160520"/>
            <a:ext cx="4937760" cy="36576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43800" y="1645920"/>
            <a:ext cx="22402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645920"/>
            <a:ext cx="54864" cy="96012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1810512"/>
            <a:ext cx="183794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5C6877"/>
                </a:solidFill>
                <a:latin typeface="Aptos"/>
              </a:rPr>
              <a:t>TEST 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2039112"/>
            <a:ext cx="1837944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006B5F"/>
                </a:solidFill>
                <a:latin typeface="Aptos"/>
              </a:rPr>
              <a:t>5,000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788920"/>
            <a:ext cx="22402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2788920"/>
            <a:ext cx="54864" cy="960120"/>
          </a:xfrm>
          <a:prstGeom prst="rect">
            <a:avLst/>
          </a:prstGeom>
          <a:solidFill>
            <a:srgbClr val="B76E18"/>
          </a:solidFill>
          <a:ln w="9525">
            <a:solidFill>
              <a:srgbClr val="B76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2953512"/>
            <a:ext cx="183794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5C6877"/>
                </a:solidFill>
                <a:latin typeface="Aptos"/>
              </a:rPr>
              <a:t>FRAUD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3182112"/>
            <a:ext cx="1837944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B76E18"/>
                </a:solidFill>
                <a:latin typeface="Aptos"/>
              </a:rPr>
              <a:t>4.02%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3931920"/>
            <a:ext cx="22402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3931920"/>
            <a:ext cx="54864" cy="960120"/>
          </a:xfrm>
          <a:prstGeom prst="rect">
            <a:avLst/>
          </a:prstGeom>
          <a:solidFill>
            <a:srgbClr val="265D97"/>
          </a:solidFill>
          <a:ln w="9525">
            <a:solidFill>
              <a:srgbClr val="265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4096511"/>
            <a:ext cx="183794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5C6877"/>
                </a:solidFill>
                <a:latin typeface="Aptos"/>
              </a:rPr>
              <a:t>LIVE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325112"/>
            <a:ext cx="1837944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265D97"/>
                </a:solidFill>
                <a:latin typeface="Aptos"/>
              </a:rPr>
              <a:t>Vercel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650992"/>
            <a:ext cx="4114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>
                <a:solidFill>
                  <a:srgbClr val="18212F"/>
                </a:solidFill>
                <a:latin typeface="Aptos"/>
              </a:rPr>
              <a:t>Prepared by Mirza Saif Baig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989320"/>
            <a:ext cx="65836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5C6877"/>
                </a:solidFill>
                <a:latin typeface="Aptos"/>
              </a:rPr>
              <a:t>Synthetic-data capstone. Not affiliated with JPMorgan Chase and not production-approved.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06B5F"/>
                </a:solidFill>
                <a:latin typeface="Aptos"/>
              </a:rPr>
              <a:t>Fraud Alert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5C6877"/>
                </a:solidFill>
                <a:latin typeface="Aptos"/>
              </a:rPr>
              <a:t>Operating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502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>
                <a:solidFill>
                  <a:srgbClr val="006B5F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22960"/>
            <a:ext cx="1024128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212F"/>
                </a:solidFill>
                <a:latin typeface="Aptos"/>
              </a:rPr>
              <a:t>The Problem I 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8755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5C6877"/>
                </a:solidFill>
                <a:latin typeface="Aptos"/>
              </a:rPr>
              <a:t>Fraud teams need to decide which alerts deserve scarce investigator attention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297180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54864" cy="1920240"/>
          </a:xfrm>
          <a:prstGeom prst="rect">
            <a:avLst/>
          </a:prstGeom>
          <a:solidFill>
            <a:srgbClr val="265D97"/>
          </a:solidFill>
          <a:ln w="9525">
            <a:solidFill>
              <a:srgbClr val="265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331720"/>
            <a:ext cx="253288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265D97"/>
                </a:solidFill>
                <a:latin typeface="Aptos"/>
              </a:rPr>
              <a:t>Alert volume creates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715768"/>
            <a:ext cx="2532888" cy="12070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18212F"/>
                </a:solidFill>
                <a:latin typeface="Aptos"/>
              </a:rPr>
              <a:t>Rules can generate many suspicious cases, but not every alert deserves immediate manual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48840"/>
            <a:ext cx="297180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148840"/>
            <a:ext cx="54864" cy="1920240"/>
          </a:xfrm>
          <a:prstGeom prst="rect">
            <a:avLst/>
          </a:prstGeom>
          <a:solidFill>
            <a:srgbClr val="B76E18"/>
          </a:solidFill>
          <a:ln w="9525">
            <a:solidFill>
              <a:srgbClr val="B76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331720"/>
            <a:ext cx="253288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B76E18"/>
                </a:solidFill>
                <a:latin typeface="Aptos"/>
              </a:rPr>
              <a:t>False positives create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715768"/>
            <a:ext cx="2532888" cy="12070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18212F"/>
                </a:solidFill>
                <a:latin typeface="Aptos"/>
              </a:rPr>
              <a:t>Every clean transaction sent to review consumes investigator time and can delay real fraud investigations.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48840"/>
            <a:ext cx="297180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148840"/>
            <a:ext cx="54864" cy="192024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2331720"/>
            <a:ext cx="253288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6B5F"/>
                </a:solidFill>
                <a:latin typeface="Aptos"/>
              </a:rPr>
              <a:t>Scores need explanation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715768"/>
            <a:ext cx="2532888" cy="12070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18212F"/>
                </a:solidFill>
                <a:latin typeface="Aptos"/>
              </a:rPr>
              <a:t>A score is useful only when the investigator can see why the transaction is risky and what action should follow.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144768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336792"/>
            <a:ext cx="10972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6B5F"/>
                </a:solidFill>
                <a:latin typeface="Aptos"/>
              </a:rPr>
              <a:t>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6263640"/>
            <a:ext cx="87782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I approached the brief as an operating-control problem: rank alerts, explain them, and control the review queue.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06B5F"/>
                </a:solidFill>
                <a:latin typeface="Aptos"/>
              </a:rPr>
              <a:t>Fraud Alert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5C6877"/>
                </a:solidFill>
                <a:latin typeface="Aptos"/>
              </a:rPr>
              <a:t>Analytical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502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>
                <a:solidFill>
                  <a:srgbClr val="006B5F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22960"/>
            <a:ext cx="1024128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212F"/>
                </a:solidFill>
                <a:latin typeface="Aptos"/>
              </a:rPr>
              <a:t>My End-To-End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8755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5C6877"/>
                </a:solidFill>
                <a:latin typeface="Aptos"/>
              </a:rPr>
              <a:t>The project moved from raw data to a deployed decision-support workflow.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057400"/>
            <a:ext cx="502920" cy="502920"/>
          </a:xfrm>
          <a:prstGeom prst="ellipse">
            <a:avLst/>
          </a:prstGeom>
          <a:solidFill>
            <a:srgbClr val="006B5F"/>
          </a:solidFill>
          <a:ln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502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89504"/>
            <a:ext cx="21945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ptos"/>
              </a:rPr>
              <a:t>Clean and 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73552"/>
            <a:ext cx="2240280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C6877"/>
                </a:solidFill>
                <a:latin typeface="Aptos"/>
              </a:rPr>
              <a:t>Transactions, customers, and merchants were joined at transaction grain.</a:t>
            </a:r>
          </a:p>
        </p:txBody>
      </p:sp>
      <p:sp>
        <p:nvSpPr>
          <p:cNvPr id="13" name="Oval 12"/>
          <p:cNvSpPr/>
          <p:nvPr/>
        </p:nvSpPr>
        <p:spPr>
          <a:xfrm>
            <a:off x="3447287" y="2057400"/>
            <a:ext cx="502920" cy="502920"/>
          </a:xfrm>
          <a:prstGeom prst="ellipse">
            <a:avLst/>
          </a:prstGeom>
          <a:solidFill>
            <a:srgbClr val="265D97"/>
          </a:solidFill>
          <a:ln>
            <a:solidFill>
              <a:srgbClr val="265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7" y="2194560"/>
            <a:ext cx="502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7" y="2889504"/>
            <a:ext cx="21945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ptos"/>
              </a:rPr>
              <a:t>Engineer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7" y="3273552"/>
            <a:ext cx="2240280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C6877"/>
                </a:solidFill>
                <a:latin typeface="Aptos"/>
              </a:rPr>
              <a:t>Amount, time, geography, channel, velocity, and merchant context became fraud features.</a:t>
            </a:r>
          </a:p>
        </p:txBody>
      </p:sp>
      <p:sp>
        <p:nvSpPr>
          <p:cNvPr id="17" name="Oval 16"/>
          <p:cNvSpPr/>
          <p:nvPr/>
        </p:nvSpPr>
        <p:spPr>
          <a:xfrm>
            <a:off x="6236207" y="2057400"/>
            <a:ext cx="502920" cy="502920"/>
          </a:xfrm>
          <a:prstGeom prst="ellipse">
            <a:avLst/>
          </a:prstGeom>
          <a:solidFill>
            <a:srgbClr val="B76E18"/>
          </a:solidFill>
          <a:ln>
            <a:solidFill>
              <a:srgbClr val="B76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7" y="2194560"/>
            <a:ext cx="502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7" y="2889504"/>
            <a:ext cx="21945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ptos"/>
              </a:rPr>
              <a:t>Train and 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3273552"/>
            <a:ext cx="2240280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C6877"/>
                </a:solidFill>
                <a:latin typeface="Aptos"/>
              </a:rPr>
              <a:t>Models and thresholds were evaluated with held-out data and false-positive awareness.</a:t>
            </a:r>
          </a:p>
        </p:txBody>
      </p:sp>
      <p:sp>
        <p:nvSpPr>
          <p:cNvPr id="21" name="Oval 20"/>
          <p:cNvSpPr/>
          <p:nvPr/>
        </p:nvSpPr>
        <p:spPr>
          <a:xfrm>
            <a:off x="9025128" y="2057400"/>
            <a:ext cx="502920" cy="502920"/>
          </a:xfrm>
          <a:prstGeom prst="ellipse">
            <a:avLst/>
          </a:prstGeom>
          <a:solidFill>
            <a:srgbClr val="27313F"/>
          </a:solidFill>
          <a:ln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2194560"/>
            <a:ext cx="502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2889504"/>
            <a:ext cx="21945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ptos"/>
              </a:rPr>
              <a:t>Deploy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3273552"/>
            <a:ext cx="2240280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C6877"/>
                </a:solidFill>
                <a:latin typeface="Aptos"/>
              </a:rPr>
              <a:t>The Vercel app supports scoring, queue review, metrics, governance, and case export.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144768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336792"/>
            <a:ext cx="10972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6B5F"/>
                </a:solidFill>
                <a:latin typeface="Aptos"/>
              </a:rPr>
              <a:t>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6263640"/>
            <a:ext cx="87782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The final project is a closed analytical loop: data, feature logic, model evidence, operational decision, and governance.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06B5F"/>
                </a:solidFill>
                <a:latin typeface="Aptos"/>
              </a:rPr>
              <a:t>Fraud Alert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5C6877"/>
                </a:solidFill>
                <a:latin typeface="Aptos"/>
              </a:rPr>
              <a:t>Build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502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>
                <a:solidFill>
                  <a:srgbClr val="006B5F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22960"/>
            <a:ext cx="1024128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18212F"/>
                </a:solidFill>
                <a:latin typeface="Aptos"/>
              </a:rPr>
              <a:t>How The Work Improved From First Build To Final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8755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5C6877"/>
                </a:solidFill>
                <a:latin typeface="Aptos"/>
              </a:rPr>
              <a:t>I iterated from a basic model dashboard to a review-ready decision-support control tower.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9784080" cy="484632"/>
          </a:xfrm>
          <a:prstGeom prst="rect">
            <a:avLst/>
          </a:prstGeom>
          <a:solidFill>
            <a:srgbClr val="27313F"/>
          </a:solidFill>
          <a:ln w="9525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75688"/>
            <a:ext cx="125272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5" y="2075688"/>
            <a:ext cx="363016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What happened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0176" y="2075688"/>
            <a:ext cx="440740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What I changed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450591"/>
            <a:ext cx="9784080" cy="484632"/>
          </a:xfrm>
          <a:prstGeom prst="rect">
            <a:avLst/>
          </a:prstGeom>
          <a:solidFill>
            <a:srgbClr val="EEF3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542032"/>
            <a:ext cx="12527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First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5" y="2542032"/>
            <a:ext cx="36301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The first version proved the concept, but it did not yet tell a strong business-control story.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0176" y="2542032"/>
            <a:ext cx="440740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Reframed the project around investigator triage, threshold policy, and operational decision-making.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35224"/>
            <a:ext cx="978408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026664"/>
            <a:ext cx="12527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Testing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5" y="3026664"/>
            <a:ext cx="36301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Some sections looked static or too generic for a reviewer.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0176" y="3026664"/>
            <a:ext cx="440740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Added transaction lookup, case drilldown, CSV export, presenter mode, and clearer explanation text.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419856"/>
            <a:ext cx="9784080" cy="484632"/>
          </a:xfrm>
          <a:prstGeom prst="rect">
            <a:avLst/>
          </a:prstGeom>
          <a:solidFill>
            <a:srgbClr val="EEF3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511296"/>
            <a:ext cx="12527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Analyst uplift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5415" y="3511296"/>
            <a:ext cx="36301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The model needed stronger business-control framing.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0176" y="3511296"/>
            <a:ext cx="440740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Added alert economics, break-even logic, governance, limitations, and future pilot roadmap.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904487"/>
            <a:ext cx="978408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995927"/>
            <a:ext cx="12527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Final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85415" y="3995927"/>
            <a:ext cx="36301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The final version explains the problem, the evidence, the operating decision, and the next step.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0176" y="3995927"/>
            <a:ext cx="440740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Packaged PPT, report, video script, live app, source code, and evidence into one clean submission folder.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144768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6336792"/>
            <a:ext cx="10972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6B5F"/>
                </a:solidFill>
                <a:latin typeface="Aptos"/>
              </a:rPr>
              <a:t>TAKEAWAY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6263640"/>
            <a:ext cx="87782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This slide is the project journey: I did not stop at a first model; I iterated until the output became review-ready.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06B5F"/>
                </a:solidFill>
                <a:latin typeface="Aptos"/>
              </a:rPr>
              <a:t>Fraud Alert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5C6877"/>
                </a:solidFill>
                <a:latin typeface="Aptos"/>
              </a:rPr>
              <a:t>Data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502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>
                <a:solidFill>
                  <a:srgbClr val="006B5F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22960"/>
            <a:ext cx="1024128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212F"/>
                </a:solidFill>
                <a:latin typeface="Aptos"/>
              </a:rPr>
              <a:t>Data Preparation And Quality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8755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5C6877"/>
                </a:solidFill>
                <a:latin typeface="Aptos"/>
              </a:rPr>
              <a:t>The model was built on a clean transaction-level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93392"/>
            <a:ext cx="196596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93392"/>
            <a:ext cx="54864" cy="96012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157984"/>
            <a:ext cx="1563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5C6877"/>
                </a:solidFill>
                <a:latin typeface="Aptos"/>
              </a:rPr>
              <a:t>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86584"/>
            <a:ext cx="1563624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006B5F"/>
                </a:solidFill>
                <a:latin typeface="Aptos"/>
              </a:rPr>
              <a:t>5,000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993392"/>
            <a:ext cx="196596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360" y="1993392"/>
            <a:ext cx="54864" cy="960120"/>
          </a:xfrm>
          <a:prstGeom prst="rect">
            <a:avLst/>
          </a:prstGeom>
          <a:solidFill>
            <a:srgbClr val="A83232"/>
          </a:solidFill>
          <a:ln w="9525">
            <a:solidFill>
              <a:srgbClr val="A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2157984"/>
            <a:ext cx="1563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5C6877"/>
                </a:solidFill>
                <a:latin typeface="Aptos"/>
              </a:rPr>
              <a:t>FRAUD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386584"/>
            <a:ext cx="1563624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A83232"/>
                </a:solidFill>
                <a:latin typeface="Aptos"/>
              </a:rPr>
              <a:t>201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993392"/>
            <a:ext cx="196596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993392"/>
            <a:ext cx="54864" cy="960120"/>
          </a:xfrm>
          <a:prstGeom prst="rect">
            <a:avLst/>
          </a:prstGeom>
          <a:solidFill>
            <a:srgbClr val="B76E18"/>
          </a:solidFill>
          <a:ln w="9525">
            <a:solidFill>
              <a:srgbClr val="B76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368" y="2157984"/>
            <a:ext cx="1563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5C6877"/>
                </a:solidFill>
                <a:latin typeface="Aptos"/>
              </a:rPr>
              <a:t>FRAUD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386584"/>
            <a:ext cx="1563624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B76E18"/>
                </a:solidFill>
                <a:latin typeface="Aptos"/>
              </a:rPr>
              <a:t>4.02%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1993392"/>
            <a:ext cx="196596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8040" y="1993392"/>
            <a:ext cx="54864" cy="960120"/>
          </a:xfrm>
          <a:prstGeom prst="rect">
            <a:avLst/>
          </a:prstGeom>
          <a:solidFill>
            <a:srgbClr val="265D97"/>
          </a:solidFill>
          <a:ln w="9525">
            <a:solidFill>
              <a:srgbClr val="265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208" y="2157984"/>
            <a:ext cx="1563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5C6877"/>
                </a:solidFill>
                <a:latin typeface="Aptos"/>
              </a:rPr>
              <a:t>SOURCES JOINED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2386584"/>
            <a:ext cx="1563624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265D97"/>
                </a:solidFill>
                <a:latin typeface="Aptos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3749039"/>
            <a:ext cx="109728" cy="109728"/>
          </a:xfrm>
          <a:prstGeom prst="ellipse">
            <a:avLst/>
          </a:prstGeom>
          <a:solidFill>
            <a:srgbClr val="006B5F"/>
          </a:solidFill>
          <a:ln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3657600"/>
            <a:ext cx="4590288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Cleaning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3886200"/>
            <a:ext cx="4590288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C6877"/>
                </a:solidFill>
                <a:latin typeface="Aptos"/>
              </a:rPr>
              <a:t>Parsed timestamps, standardized countries, handled tenure issues, and preserved missing-profile flags.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4663440"/>
            <a:ext cx="109728" cy="109728"/>
          </a:xfrm>
          <a:prstGeom prst="ellipse">
            <a:avLst/>
          </a:prstGeom>
          <a:solidFill>
            <a:srgbClr val="A83232"/>
          </a:solidFill>
          <a:ln>
            <a:solidFill>
              <a:srgbClr val="A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4572000"/>
            <a:ext cx="4590288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Leakage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4800600"/>
            <a:ext cx="4590288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C6877"/>
                </a:solidFill>
                <a:latin typeface="Aptos"/>
              </a:rPr>
              <a:t>Excluded IDs, fraud labels, alert flags, and post-investigation fields from model training.</a:t>
            </a:r>
          </a:p>
        </p:txBody>
      </p:sp>
      <p:sp>
        <p:nvSpPr>
          <p:cNvPr id="31" name="Oval 30"/>
          <p:cNvSpPr/>
          <p:nvPr/>
        </p:nvSpPr>
        <p:spPr>
          <a:xfrm>
            <a:off x="6126480" y="3749039"/>
            <a:ext cx="109728" cy="109728"/>
          </a:xfrm>
          <a:prstGeom prst="ellipse">
            <a:avLst/>
          </a:prstGeom>
          <a:solidFill>
            <a:srgbClr val="265D97"/>
          </a:solidFill>
          <a:ln>
            <a:solidFill>
              <a:srgbClr val="265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3657600"/>
            <a:ext cx="4590288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Auditability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886200"/>
            <a:ext cx="4590288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C6877"/>
                </a:solidFill>
                <a:latin typeface="Aptos"/>
              </a:rPr>
              <a:t>Added SQL feature view and feature documentation so the logic can be reviewed outside Python.</a:t>
            </a:r>
          </a:p>
        </p:txBody>
      </p:sp>
      <p:sp>
        <p:nvSpPr>
          <p:cNvPr id="34" name="Oval 33"/>
          <p:cNvSpPr/>
          <p:nvPr/>
        </p:nvSpPr>
        <p:spPr>
          <a:xfrm>
            <a:off x="6126480" y="4663440"/>
            <a:ext cx="109728" cy="109728"/>
          </a:xfrm>
          <a:prstGeom prst="ellipse">
            <a:avLst/>
          </a:prstGeom>
          <a:solidFill>
            <a:srgbClr val="B76E18"/>
          </a:solidFill>
          <a:ln>
            <a:solidFill>
              <a:srgbClr val="B76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4572000"/>
            <a:ext cx="4590288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Readiness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4800600"/>
            <a:ext cx="4590288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C6877"/>
                </a:solidFill>
                <a:latin typeface="Aptos"/>
              </a:rPr>
              <a:t>Exported model, dashboard, and transaction lookup JSON files for the Vercel app.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144768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336792"/>
            <a:ext cx="10972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6B5F"/>
                </a:solidFill>
                <a:latin typeface="Aptos"/>
              </a:rPr>
              <a:t>TAKEAWAY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83080" y="6263640"/>
            <a:ext cx="87782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The data work created a reliable transaction-grain foundation for modelling, explanations, and governance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06B5F"/>
                </a:solidFill>
                <a:latin typeface="Aptos"/>
              </a:rPr>
              <a:t>Fraud Alert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5C6877"/>
                </a:solidFill>
                <a:latin typeface="Aptos"/>
              </a:rPr>
              <a:t>Feature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502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>
                <a:solidFill>
                  <a:srgbClr val="006B5F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22960"/>
            <a:ext cx="1024128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18212F"/>
                </a:solidFill>
                <a:latin typeface="Aptos"/>
              </a:rPr>
              <a:t>Feature Engineering: Fraud Signals, Not Just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8755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5C6877"/>
                </a:solidFill>
                <a:latin typeface="Aptos"/>
              </a:rPr>
              <a:t>The features were designed around fraud signals an investigator can understand.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9875520" cy="438912"/>
          </a:xfrm>
          <a:prstGeom prst="rect">
            <a:avLst/>
          </a:prstGeom>
          <a:solidFill>
            <a:srgbClr val="27313F"/>
          </a:solidFill>
          <a:ln w="9525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167128"/>
            <a:ext cx="161848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Signal 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2167128"/>
            <a:ext cx="340156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Example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2167128"/>
            <a:ext cx="436168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96312"/>
            <a:ext cx="9875520" cy="438912"/>
          </a:xfrm>
          <a:prstGeom prst="rect">
            <a:avLst/>
          </a:prstGeom>
          <a:solidFill>
            <a:srgbClr val="EEF3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587752"/>
            <a:ext cx="16184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Transaction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587752"/>
            <a:ext cx="34015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amount, amount_log1p, txn_hour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2587752"/>
            <a:ext cx="43616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Captures unusual value and timing.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35224"/>
            <a:ext cx="98755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026664"/>
            <a:ext cx="16184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3026664"/>
            <a:ext cx="34015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geo_distance_km, cross-border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3026664"/>
            <a:ext cx="43616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Highlights possible account takeover or travel anomaly context.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74136"/>
            <a:ext cx="9875520" cy="438912"/>
          </a:xfrm>
          <a:prstGeom prst="rect">
            <a:avLst/>
          </a:prstGeom>
          <a:solidFill>
            <a:srgbClr val="EEF3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3465576"/>
            <a:ext cx="16184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6896" y="3465576"/>
            <a:ext cx="34015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P2P, wire, online, card channels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3465576"/>
            <a:ext cx="43616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Shows channel-specific fraud exposure.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13048"/>
            <a:ext cx="98755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3904487"/>
            <a:ext cx="16184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Behaviour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3904487"/>
            <a:ext cx="34015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velocity_ratio, amt_per_txn_24h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3056" y="3904487"/>
            <a:ext cx="43616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Detects bursts or abnormal spending patterns.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251960"/>
            <a:ext cx="9875520" cy="438912"/>
          </a:xfrm>
          <a:prstGeom prst="rect">
            <a:avLst/>
          </a:prstGeom>
          <a:solidFill>
            <a:srgbClr val="EEF3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4343400"/>
            <a:ext cx="16184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Merchant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96896" y="4343400"/>
            <a:ext cx="34015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merchant category encoding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3056" y="4343400"/>
            <a:ext cx="43616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Adds merchant-level fraud context.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074920"/>
            <a:ext cx="987552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074920"/>
            <a:ext cx="54864" cy="73152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5257800"/>
            <a:ext cx="943660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6B5F"/>
                </a:solidFill>
                <a:latin typeface="Aptos"/>
              </a:rPr>
              <a:t>Model-aware feature 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" y="5641848"/>
            <a:ext cx="9436608" cy="182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18212F"/>
                </a:solidFill>
                <a:latin typeface="Aptos"/>
              </a:rPr>
              <a:t>Mutual information filtered candidate features; validation permutation importance confirmed the signals the model truly relied 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144768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336792"/>
            <a:ext cx="10972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6B5F"/>
                </a:solidFill>
                <a:latin typeface="Aptos"/>
              </a:rPr>
              <a:t>TAKEAWAY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83080" y="6263640"/>
            <a:ext cx="87782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The feature story is defensible because every input maps to fraud-analyst reasoning.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06B5F"/>
                </a:solidFill>
                <a:latin typeface="Aptos"/>
              </a:rPr>
              <a:t>Fraud Alert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5C6877"/>
                </a:solidFill>
                <a:latin typeface="Aptos"/>
              </a:rPr>
              <a:t>Model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502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>
                <a:solidFill>
                  <a:srgbClr val="006B5F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22960"/>
            <a:ext cx="1024128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212F"/>
                </a:solidFill>
                <a:latin typeface="Aptos"/>
              </a:rPr>
              <a:t>What The Model Evidence Showed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8755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5C6877"/>
                </a:solidFill>
                <a:latin typeface="Aptos"/>
              </a:rPr>
              <a:t>The strongest retained signals were geographic distance, channel, amount, and transaction timing.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39319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ptos"/>
              </a:rPr>
              <a:t>Validation permutation importance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20574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18212F"/>
                </a:solidFill>
                <a:latin typeface="Aptos"/>
              </a:rPr>
              <a:t>Geographic distance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770632"/>
            <a:ext cx="3931920" cy="109728"/>
          </a:xfrm>
          <a:prstGeom prst="rect">
            <a:avLst/>
          </a:prstGeom>
          <a:solidFill>
            <a:srgbClr val="DFE8EE"/>
          </a:solidFill>
          <a:ln w="9525">
            <a:solidFill>
              <a:srgbClr val="DF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800" y="2770632"/>
            <a:ext cx="3931920" cy="109728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688336"/>
            <a:ext cx="5486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C6877"/>
                </a:solidFill>
                <a:latin typeface="Aptos"/>
              </a:rPr>
              <a:t>0.0806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09544"/>
            <a:ext cx="20574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18212F"/>
                </a:solidFill>
                <a:latin typeface="Aptos"/>
              </a:rPr>
              <a:t>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3282696"/>
            <a:ext cx="3931920" cy="109728"/>
          </a:xfrm>
          <a:prstGeom prst="rect">
            <a:avLst/>
          </a:prstGeom>
          <a:solidFill>
            <a:srgbClr val="DFE8EE"/>
          </a:solidFill>
          <a:ln w="9525">
            <a:solidFill>
              <a:srgbClr val="DF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71800" y="3282696"/>
            <a:ext cx="673207" cy="109728"/>
          </a:xfrm>
          <a:prstGeom prst="rect">
            <a:avLst/>
          </a:prstGeom>
          <a:solidFill>
            <a:srgbClr val="265D97"/>
          </a:solidFill>
          <a:ln w="9525">
            <a:solidFill>
              <a:srgbClr val="265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200400"/>
            <a:ext cx="5486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C6877"/>
                </a:solidFill>
                <a:latin typeface="Aptos"/>
              </a:rPr>
              <a:t>0.0138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21608"/>
            <a:ext cx="20574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18212F"/>
                </a:solidFill>
                <a:latin typeface="Aptos"/>
              </a:rPr>
              <a:t>Amount 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3794760"/>
            <a:ext cx="3931920" cy="109728"/>
          </a:xfrm>
          <a:prstGeom prst="rect">
            <a:avLst/>
          </a:prstGeom>
          <a:solidFill>
            <a:srgbClr val="DFE8EE"/>
          </a:solidFill>
          <a:ln w="9525">
            <a:solidFill>
              <a:srgbClr val="DF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71800" y="3794760"/>
            <a:ext cx="663450" cy="109728"/>
          </a:xfrm>
          <a:prstGeom prst="rect">
            <a:avLst/>
          </a:prstGeom>
          <a:solidFill>
            <a:srgbClr val="B76E18"/>
          </a:solidFill>
          <a:ln w="9525">
            <a:solidFill>
              <a:srgbClr val="B76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712464"/>
            <a:ext cx="5486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C6877"/>
                </a:solidFill>
                <a:latin typeface="Aptos"/>
              </a:rPr>
              <a:t>0.0136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33672"/>
            <a:ext cx="20574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18212F"/>
                </a:solidFill>
                <a:latin typeface="Aptos"/>
              </a:rPr>
              <a:t>Transaction amount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4306824"/>
            <a:ext cx="3931920" cy="109728"/>
          </a:xfrm>
          <a:prstGeom prst="rect">
            <a:avLst/>
          </a:prstGeom>
          <a:solidFill>
            <a:srgbClr val="DFE8EE"/>
          </a:solidFill>
          <a:ln w="9525">
            <a:solidFill>
              <a:srgbClr val="DF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4306824"/>
            <a:ext cx="297577" cy="109728"/>
          </a:xfrm>
          <a:prstGeom prst="rect">
            <a:avLst/>
          </a:prstGeom>
          <a:solidFill>
            <a:srgbClr val="27313F"/>
          </a:solidFill>
          <a:ln w="9525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224528"/>
            <a:ext cx="5486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C6877"/>
                </a:solidFill>
                <a:latin typeface="Aptos"/>
              </a:rPr>
              <a:t>0.0061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45736"/>
            <a:ext cx="20574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18212F"/>
                </a:solidFill>
                <a:latin typeface="Aptos"/>
              </a:rPr>
              <a:t>Transaction hour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4818888"/>
            <a:ext cx="3931920" cy="109728"/>
          </a:xfrm>
          <a:prstGeom prst="rect">
            <a:avLst/>
          </a:prstGeom>
          <a:solidFill>
            <a:srgbClr val="DFE8EE"/>
          </a:solidFill>
          <a:ln w="9525">
            <a:solidFill>
              <a:srgbClr val="DF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71800" y="4818888"/>
            <a:ext cx="228600" cy="109728"/>
          </a:xfrm>
          <a:prstGeom prst="rect">
            <a:avLst/>
          </a:prstGeom>
          <a:solidFill>
            <a:srgbClr val="A83232"/>
          </a:solidFill>
          <a:ln w="9525">
            <a:solidFill>
              <a:srgbClr val="A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736592"/>
            <a:ext cx="5486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C6877"/>
                </a:solidFill>
                <a:latin typeface="Aptos"/>
              </a:rPr>
              <a:t>0.0026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2148840"/>
            <a:ext cx="274320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2148840"/>
            <a:ext cx="54864" cy="169164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6" y="2331720"/>
            <a:ext cx="230428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6B5F"/>
                </a:solidFill>
                <a:latin typeface="Aptos"/>
              </a:rPr>
              <a:t>Analyst interpretation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2715768"/>
            <a:ext cx="2304288" cy="978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18212F"/>
                </a:solidFill>
                <a:latin typeface="Aptos"/>
              </a:rPr>
              <a:t>Geographic distance dominated the evidence. In fraud terms, this can indicate account takeover, travel anomaly, or a transaction far from expected customer behaviour.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160520"/>
            <a:ext cx="27432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4160520"/>
            <a:ext cx="54864" cy="1143000"/>
          </a:xfrm>
          <a:prstGeom prst="rect">
            <a:avLst/>
          </a:prstGeom>
          <a:solidFill>
            <a:srgbClr val="265D97"/>
          </a:solidFill>
          <a:ln w="9525">
            <a:solidFill>
              <a:srgbClr val="265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6176" y="4343400"/>
            <a:ext cx="230428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265D97"/>
                </a:solidFill>
                <a:latin typeface="Aptos"/>
              </a:rPr>
              <a:t>Decision rule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4727448"/>
            <a:ext cx="2304288" cy="4297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18212F"/>
                </a:solidFill>
                <a:latin typeface="Aptos"/>
              </a:rPr>
              <a:t>Features were not kept just because they appeared in an initial shortlist. The final story follows validation evidence.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144768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6336792"/>
            <a:ext cx="10972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6B5F"/>
                </a:solidFill>
                <a:latin typeface="Aptos"/>
              </a:rPr>
              <a:t>TAKEAWAY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6263640"/>
            <a:ext cx="87782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The model evidence guided both the explanation layer and the scope of what I chose not to overclaim.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06B5F"/>
                </a:solidFill>
                <a:latin typeface="Aptos"/>
              </a:rPr>
              <a:t>Fraud Alert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5C6877"/>
                </a:solidFill>
                <a:latin typeface="Aptos"/>
              </a:rPr>
              <a:t>Threshold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502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>
                <a:solidFill>
                  <a:srgbClr val="006B5F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22960"/>
            <a:ext cx="1024128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212F"/>
                </a:solidFill>
                <a:latin typeface="Aptos"/>
              </a:rPr>
              <a:t>Threshold Strategy: A Staffing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8755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5C6877"/>
                </a:solidFill>
                <a:latin typeface="Aptos"/>
              </a:rPr>
              <a:t>The operating threshold determines investigator workload and fraud capture.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20116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54864" cy="96012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30552"/>
            <a:ext cx="160934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5C6877"/>
                </a:solidFill>
                <a:latin typeface="Aptos"/>
              </a:rPr>
              <a:t>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359152"/>
            <a:ext cx="1609344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006B5F"/>
                </a:solidFill>
                <a:latin typeface="Aptos"/>
              </a:rPr>
              <a:t>0.7977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1965960"/>
            <a:ext cx="20116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71800" y="1965960"/>
            <a:ext cx="54864" cy="960120"/>
          </a:xfrm>
          <a:prstGeom prst="rect">
            <a:avLst/>
          </a:prstGeom>
          <a:solidFill>
            <a:srgbClr val="265D97"/>
          </a:solidFill>
          <a:ln w="9525">
            <a:solidFill>
              <a:srgbClr val="265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72968" y="2130552"/>
            <a:ext cx="160934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5C6877"/>
                </a:solidFill>
                <a:latin typeface="Aptos"/>
              </a:rPr>
              <a:t>ROUTED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2359152"/>
            <a:ext cx="1609344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265D97"/>
                </a:solidFill>
                <a:latin typeface="Aptos"/>
              </a:rPr>
              <a:t>74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1965960"/>
            <a:ext cx="20116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1965960"/>
            <a:ext cx="54864" cy="960120"/>
          </a:xfrm>
          <a:prstGeom prst="rect">
            <a:avLst/>
          </a:prstGeom>
          <a:solidFill>
            <a:srgbClr val="B76E18"/>
          </a:solidFill>
          <a:ln w="9525">
            <a:solidFill>
              <a:srgbClr val="B76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2130552"/>
            <a:ext cx="160934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5C6877"/>
                </a:solidFill>
                <a:latin typeface="Aptos"/>
              </a:rPr>
              <a:t>FRAUDS CAUGHT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2359152"/>
            <a:ext cx="1609344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B76E18"/>
                </a:solidFill>
                <a:latin typeface="Aptos"/>
              </a:rPr>
              <a:t>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965960"/>
            <a:ext cx="20116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1965960"/>
            <a:ext cx="54864" cy="960120"/>
          </a:xfrm>
          <a:prstGeom prst="rect">
            <a:avLst/>
          </a:prstGeom>
          <a:solidFill>
            <a:srgbClr val="0B8F7D"/>
          </a:solidFill>
          <a:ln w="9525">
            <a:solidFill>
              <a:srgbClr val="0B8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2088" y="2130552"/>
            <a:ext cx="160934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5C6877"/>
                </a:solidFill>
                <a:latin typeface="Aptos"/>
              </a:rPr>
              <a:t>QUEUE PRECISION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359152"/>
            <a:ext cx="1609344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0B8F7D"/>
                </a:solidFill>
                <a:latin typeface="Aptos"/>
              </a:rPr>
              <a:t>13.5%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57600"/>
            <a:ext cx="9509760" cy="457200"/>
          </a:xfrm>
          <a:prstGeom prst="rect">
            <a:avLst/>
          </a:prstGeom>
          <a:solidFill>
            <a:srgbClr val="27313F"/>
          </a:solidFill>
          <a:ln w="9525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767328"/>
            <a:ext cx="152704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51176" y="3767328"/>
            <a:ext cx="84124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Reviews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7016" y="3767328"/>
            <a:ext cx="84124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Frauds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2856" y="3767328"/>
            <a:ext cx="116128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False positives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88736" y="3767328"/>
            <a:ext cx="431596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What it means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114800"/>
            <a:ext cx="9509760" cy="457200"/>
          </a:xfrm>
          <a:prstGeom prst="rect">
            <a:avLst/>
          </a:prstGeom>
          <a:solidFill>
            <a:srgbClr val="EEF3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206240"/>
            <a:ext cx="152704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Existing alert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51176" y="4206240"/>
            <a:ext cx="84124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7016" y="4206240"/>
            <a:ext cx="84124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206240"/>
            <a:ext cx="11612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88736" y="4206240"/>
            <a:ext cx="43159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Narrower review queue.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2000"/>
            <a:ext cx="9509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4663440"/>
            <a:ext cx="152704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Risk overlay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51176" y="4663440"/>
            <a:ext cx="84124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74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57016" y="4663440"/>
            <a:ext cx="84124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2856" y="4663440"/>
            <a:ext cx="11612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64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88736" y="4663440"/>
            <a:ext cx="43159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Higher fraud capture, but more clean cases reviewed.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144768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6336792"/>
            <a:ext cx="10972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6B5F"/>
                </a:solidFill>
                <a:latin typeface="Aptos"/>
              </a:rPr>
              <a:t>TAKEAWAY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83080" y="6263640"/>
            <a:ext cx="87782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My recommendation is a shadow-mode prioritization overlay, not a replacement for existing controls.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06B5F"/>
                </a:solidFill>
                <a:latin typeface="Aptos"/>
              </a:rPr>
              <a:t>Fraud Alert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5C6877"/>
                </a:solidFill>
                <a:latin typeface="Aptos"/>
              </a:rPr>
              <a:t>Business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502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>
                <a:solidFill>
                  <a:srgbClr val="006B5F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22960"/>
            <a:ext cx="1024128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212F"/>
                </a:solidFill>
                <a:latin typeface="Aptos"/>
              </a:rPr>
              <a:t>Alert Economics And Break-Even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8755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5C6877"/>
                </a:solidFill>
                <a:latin typeface="Aptos"/>
              </a:rPr>
              <a:t>The business case is useful because it states the staffing and fraud trade-off clearly.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20116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54864" cy="960120"/>
          </a:xfrm>
          <a:prstGeom prst="rect">
            <a:avLst/>
          </a:prstGeom>
          <a:solidFill>
            <a:srgbClr val="B76E18"/>
          </a:solidFill>
          <a:ln w="9525">
            <a:solidFill>
              <a:srgbClr val="B76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130552"/>
            <a:ext cx="160934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5C6877"/>
                </a:solidFill>
                <a:latin typeface="Aptos"/>
              </a:rPr>
              <a:t>EXTRA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59152"/>
            <a:ext cx="1609344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B76E18"/>
                </a:solidFill>
                <a:latin typeface="Aptos"/>
              </a:rPr>
              <a:t>+52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965960"/>
            <a:ext cx="20116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1965960"/>
            <a:ext cx="54864" cy="96012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2130552"/>
            <a:ext cx="160934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5C6877"/>
                </a:solidFill>
                <a:latin typeface="Aptos"/>
              </a:rPr>
              <a:t>EXTRA FRAUDS CAUGHT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359152"/>
            <a:ext cx="1609344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006B5F"/>
                </a:solidFill>
                <a:latin typeface="Aptos"/>
              </a:rPr>
              <a:t>+2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1965960"/>
            <a:ext cx="20116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1965960"/>
            <a:ext cx="54864" cy="960120"/>
          </a:xfrm>
          <a:prstGeom prst="rect">
            <a:avLst/>
          </a:prstGeom>
          <a:solidFill>
            <a:srgbClr val="A83232"/>
          </a:solidFill>
          <a:ln w="9525">
            <a:solidFill>
              <a:srgbClr val="A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3248" y="2130552"/>
            <a:ext cx="160934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5C6877"/>
                </a:solidFill>
                <a:latin typeface="Aptos"/>
              </a:rPr>
              <a:t>REVIEW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359152"/>
            <a:ext cx="1609344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A83232"/>
                </a:solidFill>
                <a:latin typeface="Aptos"/>
              </a:rPr>
              <a:t>GBP 416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965960"/>
            <a:ext cx="20116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1965960"/>
            <a:ext cx="54864" cy="960120"/>
          </a:xfrm>
          <a:prstGeom prst="rect">
            <a:avLst/>
          </a:prstGeom>
          <a:solidFill>
            <a:srgbClr val="265D97"/>
          </a:solidFill>
          <a:ln w="9525">
            <a:solidFill>
              <a:srgbClr val="265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2130552"/>
            <a:ext cx="160934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5C6877"/>
                </a:solidFill>
                <a:latin typeface="Aptos"/>
              </a:rPr>
              <a:t>BREAK-EVEN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2359152"/>
            <a:ext cx="1609344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265D97"/>
                </a:solidFill>
                <a:latin typeface="Aptos"/>
              </a:rPr>
              <a:t>GBP 208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703320"/>
            <a:ext cx="457200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3703320"/>
            <a:ext cx="54864" cy="123444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3886200"/>
            <a:ext cx="4133087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6B5F"/>
                </a:solidFill>
                <a:latin typeface="Aptos"/>
              </a:rPr>
              <a:t>Calculation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" y="4270248"/>
            <a:ext cx="4133087" cy="521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18212F"/>
                </a:solidFill>
                <a:latin typeface="Aptos"/>
              </a:rPr>
              <a:t>52 extra reviews at GBP 8 each cost GBP 416. With 2 extra frauds caught, each fraud must avoid at least GBP 208 of loss for the overlay to break even.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703320"/>
            <a:ext cx="457200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703320"/>
            <a:ext cx="54864" cy="1234440"/>
          </a:xfrm>
          <a:prstGeom prst="rect">
            <a:avLst/>
          </a:prstGeom>
          <a:solidFill>
            <a:srgbClr val="265D97"/>
          </a:solidFill>
          <a:ln w="9525">
            <a:solidFill>
              <a:srgbClr val="265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6" y="3886200"/>
            <a:ext cx="4133087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265D97"/>
                </a:solidFill>
                <a:latin typeface="Aptos"/>
              </a:rPr>
              <a:t>Business 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4270248"/>
            <a:ext cx="4133087" cy="521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18212F"/>
                </a:solidFill>
                <a:latin typeface="Aptos"/>
              </a:rPr>
              <a:t>The model is valuable when used selectively: it increases fraud capture, but needs capacity control, investigator validation, and weekly false-positive monitoring.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144768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6336792"/>
            <a:ext cx="10972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6B5F"/>
                </a:solidFill>
                <a:latin typeface="Aptos"/>
              </a:rPr>
              <a:t>TAKEAWAY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6263640"/>
            <a:ext cx="87782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This makes the project finance-ready: fraud capture is linked to cost, capacity, and decision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06B5F"/>
                </a:solidFill>
                <a:latin typeface="Aptos"/>
              </a:rPr>
              <a:t>Fraud Alert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5C6877"/>
                </a:solidFill>
                <a:latin typeface="Aptos"/>
              </a:rPr>
              <a:t>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502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>
                <a:solidFill>
                  <a:srgbClr val="006B5F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22960"/>
            <a:ext cx="1024128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212F"/>
                </a:solidFill>
                <a:latin typeface="Aptos"/>
              </a:rPr>
              <a:t>How An Investigator Reads One Alert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8755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5C6877"/>
                </a:solidFill>
                <a:latin typeface="Aptos"/>
              </a:rPr>
              <a:t>The app converts a score into reasons and next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283464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54864" cy="1298448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240280"/>
            <a:ext cx="239572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6B5F"/>
                </a:solidFill>
                <a:latin typeface="Aptos"/>
              </a:rPr>
              <a:t>1.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624328"/>
            <a:ext cx="2395728" cy="5852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18212F"/>
                </a:solidFill>
                <a:latin typeface="Aptos"/>
              </a:rPr>
              <a:t>The transaction receives a fraud-risk score using exported model logic and selected top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057400"/>
            <a:ext cx="283464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057400"/>
            <a:ext cx="54864" cy="1298448"/>
          </a:xfrm>
          <a:prstGeom prst="rect">
            <a:avLst/>
          </a:prstGeom>
          <a:solidFill>
            <a:srgbClr val="265D97"/>
          </a:solidFill>
          <a:ln w="9525">
            <a:solidFill>
              <a:srgbClr val="265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2240280"/>
            <a:ext cx="239572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265D97"/>
                </a:solidFill>
                <a:latin typeface="Aptos"/>
              </a:rPr>
              <a:t>2. 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624328"/>
            <a:ext cx="2395728" cy="5852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18212F"/>
                </a:solidFill>
                <a:latin typeface="Aptos"/>
              </a:rPr>
              <a:t>Local explanation text shows which inputs increased or reduced the score, such as distance, amount, hour, or channel.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057400"/>
            <a:ext cx="283464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2057400"/>
            <a:ext cx="54864" cy="1298448"/>
          </a:xfrm>
          <a:prstGeom prst="rect">
            <a:avLst/>
          </a:prstGeom>
          <a:solidFill>
            <a:srgbClr val="B76E18"/>
          </a:solidFill>
          <a:ln w="9525">
            <a:solidFill>
              <a:srgbClr val="B76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416" y="2240280"/>
            <a:ext cx="239572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B76E18"/>
                </a:solidFill>
                <a:latin typeface="Aptos"/>
              </a:rPr>
              <a:t>3.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2624328"/>
            <a:ext cx="2395728" cy="5852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18212F"/>
                </a:solidFill>
                <a:latin typeface="Aptos"/>
              </a:rPr>
              <a:t>The output becomes a recommended action: review, monitor closely, or keep in audit trail.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343400"/>
            <a:ext cx="109728" cy="109728"/>
          </a:xfrm>
          <a:prstGeom prst="ellipse">
            <a:avLst/>
          </a:prstGeom>
          <a:solidFill>
            <a:srgbClr val="006B5F"/>
          </a:solidFill>
          <a:ln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4251960"/>
            <a:ext cx="4681728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Why geographic distance is 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480560"/>
            <a:ext cx="4681728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C6877"/>
                </a:solidFill>
                <a:latin typeface="Aptos"/>
              </a:rPr>
              <a:t>It is a proxy for unusual transaction context, not proof of fraud by itself.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4343400"/>
            <a:ext cx="109728" cy="109728"/>
          </a:xfrm>
          <a:prstGeom prst="ellipse">
            <a:avLst/>
          </a:prstGeom>
          <a:solidFill>
            <a:srgbClr val="A83232"/>
          </a:solidFill>
          <a:ln>
            <a:solidFill>
              <a:srgbClr val="A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4251960"/>
            <a:ext cx="4681728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Why human review remains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4480560"/>
            <a:ext cx="4681728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C6877"/>
                </a:solidFill>
                <a:latin typeface="Aptos"/>
              </a:rPr>
              <a:t>The app supports prioritization. It does not automatically block customers or approve/deny transactions.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144768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336792"/>
            <a:ext cx="10972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6B5F"/>
                </a:solidFill>
                <a:latin typeface="Aptos"/>
              </a:rPr>
              <a:t>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6263640"/>
            <a:ext cx="87782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Explainability makes the output usable: the investigator sees the score, the reason, and the next control 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06B5F"/>
                </a:solidFill>
                <a:latin typeface="Aptos"/>
              </a:rPr>
              <a:t>Fraud Alert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5C6877"/>
                </a:solidFill>
                <a:latin typeface="Aptos"/>
              </a:rPr>
              <a:t>Live control tower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502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>
                <a:solidFill>
                  <a:srgbClr val="006B5F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22960"/>
            <a:ext cx="1024128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212F"/>
                </a:solidFill>
                <a:latin typeface="Aptos"/>
              </a:rPr>
              <a:t>The Vercel App Turns Analysis Into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8755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5C6877"/>
                </a:solidFill>
                <a:latin typeface="Aptos"/>
              </a:rPr>
              <a:t>The live app is the operating layer built on top of the modelling artifacts.</a:t>
            </a:r>
          </a:p>
        </p:txBody>
      </p:sp>
      <p:pic>
        <p:nvPicPr>
          <p:cNvPr id="9" name="Picture 8" descr="app-score-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5806440" cy="44354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1965960"/>
            <a:ext cx="3200400" cy="2834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1965960"/>
            <a:ext cx="54864" cy="283464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34656" y="2148840"/>
            <a:ext cx="276148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6B5F"/>
                </a:solidFill>
                <a:latin typeface="Aptos"/>
              </a:rPr>
              <a:t>What the reviewer can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34656" y="2532888"/>
            <a:ext cx="2761488" cy="2121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18212F"/>
                </a:solidFill>
                <a:latin typeface="Aptos"/>
              </a:rPr>
              <a:t>Score a transaction
Search transaction IDs
Review risk reasons
Inspect queue priority
Check threshold metrics
Read governance controls
Export case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144768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336792"/>
            <a:ext cx="10972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6B5F"/>
                </a:solidFill>
                <a:latin typeface="Aptos"/>
              </a:rPr>
              <a:t>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6263640"/>
            <a:ext cx="87782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The app is not a decoration layer; it is where the model becomes a fraud-analyst workflow.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06B5F"/>
                </a:solidFill>
                <a:latin typeface="Aptos"/>
              </a:rPr>
              <a:t>Fraud Alert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5C6877"/>
                </a:solidFill>
                <a:latin typeface="Aptos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502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>
                <a:solidFill>
                  <a:srgbClr val="006B5F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22960"/>
            <a:ext cx="1024128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212F"/>
                </a:solidFill>
                <a:latin typeface="Aptos"/>
              </a:rPr>
              <a:t>Governance And Production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8755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5C6877"/>
                </a:solidFill>
                <a:latin typeface="Aptos"/>
              </a:rPr>
              <a:t>A credible fraud model must state its limits as clearly as its capabilities.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301752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54864" cy="123444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194560"/>
            <a:ext cx="257860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6B5F"/>
                </a:solidFill>
                <a:latin typeface="Aptos"/>
              </a:rPr>
              <a:t>Intended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578608"/>
            <a:ext cx="2578608" cy="521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18212F"/>
                </a:solidFill>
                <a:latin typeface="Aptos"/>
              </a:rPr>
              <a:t>Prioritize review queues and provide investigator-facing explanations.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301752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011680"/>
            <a:ext cx="54864" cy="1234440"/>
          </a:xfrm>
          <a:prstGeom prst="rect">
            <a:avLst/>
          </a:prstGeom>
          <a:solidFill>
            <a:srgbClr val="A83232"/>
          </a:solidFill>
          <a:ln w="9525">
            <a:solidFill>
              <a:srgbClr val="A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194560"/>
            <a:ext cx="257860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A83232"/>
                </a:solidFill>
                <a:latin typeface="Aptos"/>
              </a:rPr>
              <a:t>Not approved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578608"/>
            <a:ext cx="2578608" cy="521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18212F"/>
                </a:solidFill>
                <a:latin typeface="Aptos"/>
              </a:rPr>
              <a:t>Automatic blocking, customer eligibility decisions, or production use without real-data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011680"/>
            <a:ext cx="301752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011680"/>
            <a:ext cx="54864" cy="1234440"/>
          </a:xfrm>
          <a:prstGeom prst="rect">
            <a:avLst/>
          </a:prstGeom>
          <a:solidFill>
            <a:srgbClr val="265D97"/>
          </a:solidFill>
          <a:ln w="9525">
            <a:solidFill>
              <a:srgbClr val="265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2194560"/>
            <a:ext cx="257860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265D97"/>
                </a:solidFill>
                <a:latin typeface="Aptos"/>
              </a:rPr>
              <a:t>Monitoring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578608"/>
            <a:ext cx="2578608" cy="521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18212F"/>
                </a:solidFill>
                <a:latin typeface="Aptos"/>
              </a:rPr>
              <a:t>Monitor score drift, segment-level false positives, queue load, fraud capture, and investigator outcomes.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3886200"/>
            <a:ext cx="9235440" cy="384048"/>
          </a:xfrm>
          <a:prstGeom prst="rect">
            <a:avLst/>
          </a:prstGeom>
          <a:solidFill>
            <a:srgbClr val="27313F"/>
          </a:solidFill>
          <a:ln w="9525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3995928"/>
            <a:ext cx="2029967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Risk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8415" y="3995928"/>
            <a:ext cx="687628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Evidence prepared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4270248"/>
            <a:ext cx="9235440" cy="384048"/>
          </a:xfrm>
          <a:prstGeom prst="rect">
            <a:avLst/>
          </a:prstGeom>
          <a:solidFill>
            <a:srgbClr val="EEF3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4361688"/>
            <a:ext cx="202996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Model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8415" y="4361688"/>
            <a:ext cx="68762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Purpose, assumptions, limitations, and monitoring plan.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4654296"/>
            <a:ext cx="9235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6" y="4745736"/>
            <a:ext cx="202996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Threshold memo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8415" y="4745736"/>
            <a:ext cx="68762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Capacity-based threshold and business trade-off.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5038344"/>
            <a:ext cx="9235440" cy="384048"/>
          </a:xfrm>
          <a:prstGeom prst="rect">
            <a:avLst/>
          </a:prstGeom>
          <a:solidFill>
            <a:srgbClr val="EEF3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3856" y="5129783"/>
            <a:ext cx="202996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Validation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8415" y="5129783"/>
            <a:ext cx="68762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Calibration, segment false positives, and SLA coverage.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" y="5422392"/>
            <a:ext cx="9235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5513831"/>
            <a:ext cx="202996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SQL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28415" y="5513831"/>
            <a:ext cx="687628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Warehouse-ready feature logic.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144768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6336792"/>
            <a:ext cx="10972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6B5F"/>
                </a:solidFill>
                <a:latin typeface="Aptos"/>
              </a:rPr>
              <a:t>TAKEAWAY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83080" y="6263640"/>
            <a:ext cx="87782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The governance layer protects credibility: the prototype is useful, controlled, and explicit about production limits.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06B5F"/>
                </a:solidFill>
                <a:latin typeface="Aptos"/>
              </a:rPr>
              <a:t>Fraud Alert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5C6877"/>
                </a:solidFill>
                <a:latin typeface="Aptos"/>
              </a:rPr>
              <a:t>Report card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502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>
                <a:solidFill>
                  <a:srgbClr val="006B5F"/>
                </a:solidFill>
                <a:latin typeface="Apto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22960"/>
            <a:ext cx="1024128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212F"/>
                </a:solidFill>
                <a:latin typeface="Aptos"/>
              </a:rPr>
              <a:t>Reviewer Report Card: What This Project Proves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8755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5C6877"/>
                </a:solidFill>
                <a:latin typeface="Aptos"/>
              </a:rPr>
              <a:t>The report card converts the work into clear assessment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10259568" cy="438912"/>
          </a:xfrm>
          <a:prstGeom prst="rect">
            <a:avLst/>
          </a:prstGeom>
          <a:solidFill>
            <a:srgbClr val="27313F"/>
          </a:solidFill>
          <a:ln w="9525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29968"/>
            <a:ext cx="1408176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Review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863" y="2029968"/>
            <a:ext cx="427024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Evidence in my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5703" y="2029968"/>
            <a:ext cx="408736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359152"/>
            <a:ext cx="10259568" cy="438912"/>
          </a:xfrm>
          <a:prstGeom prst="rect">
            <a:avLst/>
          </a:prstGeom>
          <a:solidFill>
            <a:srgbClr val="EEF3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450592"/>
            <a:ext cx="140817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Fraud relevance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0863" y="2450592"/>
            <a:ext cx="427024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Amount, geography, channel, time, velocity, and merchant-context signals.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5703" y="2450592"/>
            <a:ext cx="40873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The features match real fraud-analysis thinking.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798064"/>
            <a:ext cx="1025956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889504"/>
            <a:ext cx="140817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Analytical discipline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0863" y="2889504"/>
            <a:ext cx="427024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Held-out testing, feature audit, threshold comparison, and false-positive awareness.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5703" y="2889504"/>
            <a:ext cx="40873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The model is evaluated as a control, not just a score.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236976"/>
            <a:ext cx="10259568" cy="438912"/>
          </a:xfrm>
          <a:prstGeom prst="rect">
            <a:avLst/>
          </a:prstGeom>
          <a:solidFill>
            <a:srgbClr val="EEF3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328416"/>
            <a:ext cx="140817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Business usefulness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863" y="3328416"/>
            <a:ext cx="427024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Queue size, fraud capture, hit rate, review cost, and break-even point.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3" y="3328416"/>
            <a:ext cx="40873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The output supports an operating decision.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675887"/>
            <a:ext cx="1025956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767327"/>
            <a:ext cx="140817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Explainability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0863" y="3767327"/>
            <a:ext cx="427024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Per-case reasons, risk drivers, next actions, and exportable case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5703" y="3767327"/>
            <a:ext cx="40873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An investigator can understand and challenge the result.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114800"/>
            <a:ext cx="10259568" cy="438912"/>
          </a:xfrm>
          <a:prstGeom prst="rect">
            <a:avLst/>
          </a:prstGeom>
          <a:solidFill>
            <a:srgbClr val="EEF3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206240"/>
            <a:ext cx="140817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40863" y="4206240"/>
            <a:ext cx="427024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Model card, production boundary, monitoring plan, and enterprise roadmap.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5703" y="4206240"/>
            <a:ext cx="40873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The prototype is responsible and reviewable.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144768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6336792"/>
            <a:ext cx="10972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6B5F"/>
                </a:solidFill>
                <a:latin typeface="Aptos"/>
              </a:rPr>
              <a:t>TAKEAWAY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6263640"/>
            <a:ext cx="87782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The report card is the one-page proof that the project is complete across analytics, business value, app delivery, and governance.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06B5F"/>
                </a:solidFill>
                <a:latin typeface="Aptos"/>
              </a:rPr>
              <a:t>Fraud Alert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5C6877"/>
                </a:solidFill>
                <a:latin typeface="Aptos"/>
              </a:rPr>
              <a:t>Submission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502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>
                <a:solidFill>
                  <a:srgbClr val="006B5F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22960"/>
            <a:ext cx="1024128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212F"/>
                </a:solidFill>
                <a:latin typeface="Aptos"/>
              </a:rPr>
              <a:t>What I Am Submitting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8755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5C6877"/>
                </a:solidFill>
                <a:latin typeface="Aptos"/>
              </a:rPr>
              <a:t>The final package is organized so a reviewer can inspect the work quickly.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148840"/>
            <a:ext cx="109728" cy="109728"/>
          </a:xfrm>
          <a:prstGeom prst="ellipse">
            <a:avLst/>
          </a:prstGeom>
          <a:solidFill>
            <a:srgbClr val="006B5F"/>
          </a:solidFill>
          <a:ln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57400"/>
            <a:ext cx="4498848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Executive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286000"/>
            <a:ext cx="4498848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C6877"/>
                </a:solidFill>
                <a:latin typeface="Aptos"/>
              </a:rPr>
              <a:t>Problem, approach, model, threshold strategy, app, governance, report card, and roadmap.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017520"/>
            <a:ext cx="109728" cy="109728"/>
          </a:xfrm>
          <a:prstGeom prst="ellipse">
            <a:avLst/>
          </a:prstGeom>
          <a:solidFill>
            <a:srgbClr val="265D97"/>
          </a:solidFill>
          <a:ln>
            <a:solidFill>
              <a:srgbClr val="265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926080"/>
            <a:ext cx="4498848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Professional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154680"/>
            <a:ext cx="4498848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C6877"/>
                </a:solidFill>
                <a:latin typeface="Aptos"/>
              </a:rPr>
              <a:t>A detailed written report that explains the project journey, evidence, business decision, and next course of action.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B76E18"/>
          </a:solidFill>
          <a:ln>
            <a:solidFill>
              <a:srgbClr val="B76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794760"/>
            <a:ext cx="4498848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Report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023360"/>
            <a:ext cx="4498848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C6877"/>
                </a:solidFill>
                <a:latin typeface="Aptos"/>
              </a:rPr>
              <a:t>A quick reviewer-facing scorecard of what was built, what evidence supports it, and what should happen next.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2148840"/>
            <a:ext cx="109728" cy="109728"/>
          </a:xfrm>
          <a:prstGeom prst="ellipse">
            <a:avLst/>
          </a:prstGeom>
          <a:solidFill>
            <a:srgbClr val="0B8F7D"/>
          </a:solidFill>
          <a:ln>
            <a:solidFill>
              <a:srgbClr val="0B8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057400"/>
            <a:ext cx="4498848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Live demo and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286000"/>
            <a:ext cx="4498848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C6877"/>
                </a:solidFill>
                <a:latin typeface="Aptos"/>
              </a:rPr>
              <a:t>Vercel app plus source repository for app code, Python modelling, SQL, and artifacts.</a:t>
            </a:r>
          </a:p>
        </p:txBody>
      </p:sp>
      <p:sp>
        <p:nvSpPr>
          <p:cNvPr id="21" name="Oval 20"/>
          <p:cNvSpPr/>
          <p:nvPr/>
        </p:nvSpPr>
        <p:spPr>
          <a:xfrm>
            <a:off x="6263640" y="3017520"/>
            <a:ext cx="109728" cy="109728"/>
          </a:xfrm>
          <a:prstGeom prst="ellipse">
            <a:avLst/>
          </a:prstGeom>
          <a:solidFill>
            <a:srgbClr val="27313F"/>
          </a:solidFill>
          <a:ln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926080"/>
            <a:ext cx="4498848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Evidence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154680"/>
            <a:ext cx="4498848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C6877"/>
                </a:solidFill>
                <a:latin typeface="Aptos"/>
              </a:rPr>
              <a:t>Model card, threshold memo, validation evidence, capacity table, feature audit, and SQL view.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3886200"/>
            <a:ext cx="109728" cy="109728"/>
          </a:xfrm>
          <a:prstGeom prst="ellipse">
            <a:avLst/>
          </a:prstGeom>
          <a:solidFill>
            <a:srgbClr val="A83232"/>
          </a:solidFill>
          <a:ln>
            <a:solidFill>
              <a:srgbClr val="A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794760"/>
            <a:ext cx="4498848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Video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4023360"/>
            <a:ext cx="4498848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C6877"/>
                </a:solidFill>
                <a:latin typeface="Aptos"/>
              </a:rPr>
              <a:t>A natural presentation script for recording and viva-style explanation.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144768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336792"/>
            <a:ext cx="10972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6B5F"/>
                </a:solidFill>
                <a:latin typeface="Aptos"/>
              </a:rPr>
              <a:t>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6263640"/>
            <a:ext cx="87782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The folder is built as a reviewer package, not a messy project dump.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F"/>
          </a:solidFill>
          <a:ln w="9525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06B5F"/>
                </a:solidFill>
                <a:latin typeface="Aptos"/>
              </a:rPr>
              <a:t>Fraud Alert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5C6877"/>
                </a:solidFill>
                <a:latin typeface="Aptos"/>
              </a:rP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502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>
                <a:solidFill>
                  <a:srgbClr val="006B5F"/>
                </a:solidFill>
                <a:latin typeface="Aptos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22960"/>
            <a:ext cx="1024128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18212F"/>
                </a:solidFill>
                <a:latin typeface="Aptos"/>
              </a:rPr>
              <a:t>Future Roadmap: From Prototype To Bank-Ready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8755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5C6877"/>
                </a:solidFill>
                <a:latin typeface="Aptos"/>
              </a:rPr>
              <a:t>The next step is controlled validation, not production deployment.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9921240" cy="457200"/>
          </a:xfrm>
          <a:prstGeom prst="rect">
            <a:avLst/>
          </a:prstGeom>
          <a:solidFill>
            <a:srgbClr val="27313F"/>
          </a:solidFill>
          <a:ln w="9525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1892807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6936" y="2121408"/>
            <a:ext cx="376732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Next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856" y="2121408"/>
            <a:ext cx="376732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468880"/>
            <a:ext cx="9921240" cy="457200"/>
          </a:xfrm>
          <a:prstGeom prst="rect">
            <a:avLst/>
          </a:prstGeom>
          <a:solidFill>
            <a:srgbClr val="EEF3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560320"/>
            <a:ext cx="189280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Real-data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6936" y="2560320"/>
            <a:ext cx="37673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Validate on historical bank transactions.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8856" y="2560320"/>
            <a:ext cx="37673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Confirms whether synthetic patterns generalize.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26080"/>
            <a:ext cx="9921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017520"/>
            <a:ext cx="189280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Calibration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936" y="3017520"/>
            <a:ext cx="37673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Calibrate probabilities on validation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8856" y="3017520"/>
            <a:ext cx="37673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Makes scores easier to defend as risk probabilities.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383280"/>
            <a:ext cx="9921240" cy="457200"/>
          </a:xfrm>
          <a:prstGeom prst="rect">
            <a:avLst/>
          </a:prstGeom>
          <a:solidFill>
            <a:srgbClr val="EEF3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474720"/>
            <a:ext cx="189280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SHAP upgrade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6936" y="3474720"/>
            <a:ext cx="37673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Add signed local SHAP explanations.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3474720"/>
            <a:ext cx="37673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Improves audit-grade explainability.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840480"/>
            <a:ext cx="9921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931920"/>
            <a:ext cx="189280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Investigator outcome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6936" y="3931920"/>
            <a:ext cx="37673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Capture investigator outcomes and outcomes.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8856" y="3931920"/>
            <a:ext cx="37673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Reduces false positives and supports retraining.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297680"/>
            <a:ext cx="9921240" cy="457200"/>
          </a:xfrm>
          <a:prstGeom prst="rect">
            <a:avLst/>
          </a:prstGeom>
          <a:solidFill>
            <a:srgbClr val="EEF3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389120"/>
            <a:ext cx="189280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Enterprise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6936" y="4389120"/>
            <a:ext cx="37673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Add roles, audit logs, security controls, and monitoring.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8856" y="4389120"/>
            <a:ext cx="37673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8212F"/>
                </a:solidFill>
                <a:latin typeface="Aptos"/>
              </a:rPr>
              <a:t>Moves from prototype to pilot-ready system.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144768"/>
            <a:ext cx="10698480" cy="9144"/>
          </a:xfrm>
          <a:prstGeom prst="rect">
            <a:avLst/>
          </a:prstGeom>
          <a:solidFill>
            <a:srgbClr val="D7DEE8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6336792"/>
            <a:ext cx="10972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6B5F"/>
                </a:solidFill>
                <a:latin typeface="Aptos"/>
              </a:rPr>
              <a:t>TAKEAWAY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6263640"/>
            <a:ext cx="87782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18212F"/>
                </a:solidFill>
                <a:latin typeface="Aptos"/>
              </a:rPr>
              <a:t>Final message: I built a fraud decision-support prototype and defined a responsible path to pilot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Alert Control Tower - Final Deck</dc:title>
  <dc:subject>Explainable fraud alert prioritization and investigation control tower</dc:subject>
  <dc:creator>Mirza Saif Baig</dc:creator>
  <cp:keywords>fraud analytics, risk, governance, threshold strategy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